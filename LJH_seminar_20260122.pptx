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17"/>
  </p:notesMasterIdLst>
  <p:sldIdLst>
    <p:sldId id="256" r:id="rId4"/>
    <p:sldId id="261" r:id="rId5"/>
    <p:sldId id="318" r:id="rId6"/>
    <p:sldId id="265" r:id="rId7"/>
    <p:sldId id="303" r:id="rId8"/>
    <p:sldId id="306" r:id="rId9"/>
    <p:sldId id="317" r:id="rId10"/>
    <p:sldId id="311" r:id="rId11"/>
    <p:sldId id="309" r:id="rId12"/>
    <p:sldId id="319" r:id="rId13"/>
    <p:sldId id="310" r:id="rId14"/>
    <p:sldId id="316" r:id="rId15"/>
    <p:sldId id="262" r:id="rId16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7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D3E9"/>
    <a:srgbClr val="98DFBB"/>
    <a:srgbClr val="F8B2A3"/>
    <a:srgbClr val="A4B4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73361" autoAdjust="0"/>
  </p:normalViewPr>
  <p:slideViewPr>
    <p:cSldViewPr>
      <p:cViewPr varScale="1">
        <p:scale>
          <a:sx n="107" d="100"/>
          <a:sy n="107" d="100"/>
        </p:scale>
        <p:origin x="1180" y="52"/>
      </p:cViewPr>
      <p:guideLst>
        <p:guide orient="horz" pos="184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E4780-4742-4AF7-B9F6-29387D06C87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0E160-F603-41F3-A192-DC95957721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441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0E160-F603-41F3-A192-DC95957721C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819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0E160-F603-41F3-A192-DC95957721C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1070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RAG-Sequence Model</a:t>
            </a:r>
          </a:p>
          <a:p>
            <a:pPr latinLnBrk="1"/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sequence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내의 각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 token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예측할 때 같은 문서를 참조하는 접근법</a:t>
            </a:r>
          </a:p>
          <a:p>
            <a:pPr lvl="1" latinLnBrk="1"/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주어졌을 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결과물으로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나올 확률은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주어졌을 때 문서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나오고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주어졌을 때 다시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나올 확률을 모든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대해 더한 것과 같다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(marginalization)</a:t>
            </a:r>
          </a:p>
          <a:p>
            <a:pPr lvl="1" latinLnBrk="1"/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그런데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k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값을 적절히 세팅하면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top-k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속하는 문서가 뽑힐 확률이 순위가 낮은 문서가 뽑힐 확률보다 훨씬 높으므로 후자를 무시할 수 있다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즉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top-k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속하는 문서에 대해서만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marginalize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한다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1" latinLnBrk="1"/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x, z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주어졌을 때 시퀀스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생성될 확률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 x, z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주어지고 이전에 생성된 토큰이 주어졌을 때 다음 토큰이 생성될 확률을 전부 곱한 것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RAG-Token Model</a:t>
            </a:r>
          </a:p>
          <a:p>
            <a:pPr latinLnBrk="1"/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모델이 각 토큰을 생성할 때 서로 다른 문서를 참조할 수 있다</a:t>
            </a:r>
          </a:p>
          <a:p>
            <a:pPr latinLnBrk="1"/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retriever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통해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 K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개의 문서가 전달되고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generator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각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주어진 상황에서 다음 토큰을 예측</a:t>
            </a:r>
          </a:p>
          <a:p>
            <a:pPr lvl="1" latinLnBrk="1"/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먼저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yi|x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marginalization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이용하면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앞서와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같이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z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주어질 확률*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주어졌을 때의 확률을 모든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대해 더한 것과 같다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(summation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안쪽 수식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lvl="1" latinLnBrk="1"/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 토큰을 생성할 때는 이전 토큰을 참조하므로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확률을 곱해간다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0E160-F603-41F3-A192-DC95957721C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8048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20E160-F603-41F3-A192-DC95957721C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955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23928" y="2643759"/>
            <a:ext cx="5220072" cy="108012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sz="3600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23928" y="3723878"/>
            <a:ext cx="5219924" cy="504056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</a:t>
            </a:r>
          </a:p>
          <a:p>
            <a:pPr lvl="0"/>
            <a:r>
              <a:rPr lang="en-US" altLang="ko-KR" dirty="0"/>
              <a:t>PRESENTATION HERE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A55E6E-2890-481F-AE15-CDC79CD838DA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                      </a:t>
            </a:r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20D7C9D-2950-4F0D-9947-7E4F8FE66C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490" y="49633"/>
            <a:ext cx="1282640" cy="1282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707971">
            <a:off x="2873932" y="156273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527839">
            <a:off x="3005459" y="3443641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414606">
            <a:off x="1967897" y="2192112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162721" flipH="1">
            <a:off x="2110757" y="805096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864253" flipH="1">
            <a:off x="3934583" y="142673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164798">
            <a:off x="5618205" y="2384716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274931">
            <a:off x="5463157" y="736150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29549">
            <a:off x="4788024" y="3370715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/>
          <p:cNvGrpSpPr/>
          <p:nvPr userDrawn="1"/>
        </p:nvGrpSpPr>
        <p:grpSpPr>
          <a:xfrm>
            <a:off x="2254580" y="248388"/>
            <a:ext cx="4634840" cy="4646724"/>
            <a:chOff x="1115616" y="1275607"/>
            <a:chExt cx="2585656" cy="2592286"/>
          </a:xfrm>
        </p:grpSpPr>
        <p:pic>
          <p:nvPicPr>
            <p:cNvPr id="5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/>
            <p:cNvSpPr/>
            <p:nvPr userDrawn="1"/>
          </p:nvSpPr>
          <p:spPr>
            <a:xfrm>
              <a:off x="1595313" y="1758619"/>
              <a:ext cx="1626263" cy="16262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lt"/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03848" y="2101602"/>
            <a:ext cx="2736303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203700" y="2677666"/>
            <a:ext cx="2736303" cy="43204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</a:t>
            </a:r>
          </a:p>
          <a:p>
            <a:pPr lvl="0"/>
            <a:r>
              <a:rPr lang="en-US" altLang="ko-KR" dirty="0"/>
              <a:t>of your subtitle Here</a:t>
            </a:r>
          </a:p>
        </p:txBody>
      </p:sp>
      <p:pic>
        <p:nvPicPr>
          <p:cNvPr id="2050" name="Picture 2" descr="E:\002-KIMS BUSINESS\007-02-Googleslidesppt\02-GSppt-Contents-Kim\20170215\03-abs\item03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2860"/>
            <a:ext cx="1587121" cy="1514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3624792"/>
            <a:ext cx="1407408" cy="1518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A5F54F-2348-4473-82E1-BFE60E049C97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2843808" y="377122"/>
            <a:ext cx="3456384" cy="3465247"/>
            <a:chOff x="1115616" y="1275607"/>
            <a:chExt cx="2585656" cy="2592286"/>
          </a:xfrm>
        </p:grpSpPr>
        <p:pic>
          <p:nvPicPr>
            <p:cNvPr id="5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Oval 5"/>
            <p:cNvSpPr/>
            <p:nvPr userDrawn="1"/>
          </p:nvSpPr>
          <p:spPr>
            <a:xfrm>
              <a:off x="1796376" y="1959682"/>
              <a:ext cx="1224136" cy="12241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829098" y="3829794"/>
            <a:ext cx="3456384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Welcome!!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828950" y="4443958"/>
            <a:ext cx="3456384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746CEC-C010-40FB-A31C-D4A95DEE5115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6203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9DE26D-6639-4546-96A5-E0EE2A312FF3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409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749EE9-2723-4B84-AFDB-858BDA36301B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</a:t>
            </a:r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63568" y="159982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842131" y="1597374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34733" y="1597374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27011" y="1599822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Block Arc 1"/>
          <p:cNvSpPr/>
          <p:nvPr userDrawn="1"/>
        </p:nvSpPr>
        <p:spPr>
          <a:xfrm>
            <a:off x="683568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Block Arc 11"/>
          <p:cNvSpPr/>
          <p:nvPr userDrawn="1"/>
        </p:nvSpPr>
        <p:spPr>
          <a:xfrm>
            <a:off x="2671382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Block Arc 12"/>
          <p:cNvSpPr/>
          <p:nvPr userDrawn="1"/>
        </p:nvSpPr>
        <p:spPr>
          <a:xfrm>
            <a:off x="4659196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Block Arc 13"/>
          <p:cNvSpPr/>
          <p:nvPr userDrawn="1"/>
        </p:nvSpPr>
        <p:spPr>
          <a:xfrm>
            <a:off x="6647011" y="1419822"/>
            <a:ext cx="1800000" cy="1800000"/>
          </a:xfrm>
          <a:prstGeom prst="blockArc">
            <a:avLst>
              <a:gd name="adj1" fmla="val 10800000"/>
              <a:gd name="adj2" fmla="val 94979"/>
              <a:gd name="adj3" fmla="val 540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EDBECCA6-8618-46C3-A8D4-3B6399CCEF8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1D40A599-6D66-4DC9-82BB-52C171B56B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133540-D188-4ED2-842B-34BCBF6015C8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499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08" y="1131589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32AA192-7133-43FD-AFD7-CCFE80BE754D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771800" y="1404764"/>
            <a:ext cx="6372200" cy="302433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A6C3AF05-0B8F-485E-983F-1B40340199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D183D1CC-DF98-45E3-B7CE-601603E40D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B75FB7-0578-4803-9742-A5F556AD9F01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931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3059832" cy="21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084000" y="2947500"/>
            <a:ext cx="3060000" cy="21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039255-9B8F-4462-A7FE-3E72045BAB9D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4479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28392" y="0"/>
            <a:ext cx="2123728" cy="32198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7020272" y="1923678"/>
            <a:ext cx="2123728" cy="32198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AAE106-F942-47F1-B65C-59B172E88EAA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251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717858" y="1275606"/>
            <a:ext cx="2448545" cy="20240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3339542" y="1275606"/>
            <a:ext cx="2448273" cy="20240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60954" y="1275606"/>
            <a:ext cx="2448273" cy="20240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DDA4CE02-F7F3-4BCD-B8DB-4DFD03965E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9A54B34-6F96-4E3E-B72E-E680E3CE27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777962-8117-49AD-9324-1D8E477D02BB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3997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D:\Fullppt\005-PNG이미지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286" y="1275606"/>
            <a:ext cx="2923753" cy="251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D:\Fullppt\005-PNG이미지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646" y="1275606"/>
            <a:ext cx="2923753" cy="2518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582656" y="1374406"/>
            <a:ext cx="2700000" cy="15848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820964" y="1374406"/>
            <a:ext cx="2736000" cy="15848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F3CBFE9-6225-4EAB-9415-3558F6BE9A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E9189EF-3C10-45A2-8749-4187192ACE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85AF8D-9837-4185-AA5F-0E08674FE199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0894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nut 3"/>
          <p:cNvSpPr/>
          <p:nvPr userDrawn="1"/>
        </p:nvSpPr>
        <p:spPr>
          <a:xfrm>
            <a:off x="2847111" y="1179745"/>
            <a:ext cx="3401564" cy="3401564"/>
          </a:xfrm>
          <a:prstGeom prst="donut">
            <a:avLst>
              <a:gd name="adj" fmla="val 13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5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5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8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B4F25E9-AA8C-4BD3-BF1F-56D20DF8DD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40BDE80-4E1C-47DE-8168-381888FDC3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E8A3CB-0AB4-417C-9F8E-176DF4D3C840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92049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213800" y="2230378"/>
            <a:ext cx="4930200" cy="47357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213800" y="2703954"/>
            <a:ext cx="493020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39" y="3651870"/>
            <a:ext cx="1013895" cy="1016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950740"/>
            <a:ext cx="648072" cy="649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419818"/>
            <a:ext cx="442142" cy="443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E:\002-KIMS BUSINESS\007-02-Googleslidesppt\02-GSppt-Contents-Kim\20170215\03-abs\item01-png.pn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2" y="1779200"/>
            <a:ext cx="360040" cy="360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/>
          <p:cNvGrpSpPr/>
          <p:nvPr userDrawn="1"/>
        </p:nvGrpSpPr>
        <p:grpSpPr>
          <a:xfrm>
            <a:off x="1115616" y="1275607"/>
            <a:ext cx="2585656" cy="2592286"/>
            <a:chOff x="1115616" y="1275607"/>
            <a:chExt cx="2585656" cy="2592286"/>
          </a:xfrm>
        </p:grpSpPr>
        <p:pic>
          <p:nvPicPr>
            <p:cNvPr id="1026" name="Picture 2" descr="E:\002-KIMS BUSINESS\007-02-Googleslidesppt\02-GSppt-Contents-Kim\20170215\03-abs\item01-png.png"/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616" y="1275607"/>
              <a:ext cx="2585656" cy="2592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Oval 1"/>
            <p:cNvSpPr/>
            <p:nvPr userDrawn="1"/>
          </p:nvSpPr>
          <p:spPr>
            <a:xfrm>
              <a:off x="1796376" y="1959682"/>
              <a:ext cx="1224136" cy="122413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63500" dist="38100" dir="18900000">
                <a:prstClr val="black">
                  <a:alpha val="29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027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344" y="3578808"/>
            <a:ext cx="1475656" cy="1592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E:\002-KIMS BUSINESS\007-02-Googleslidesppt\02-GSppt-Contents-Kim\20170215\03-abs\item02-png.png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8226854" y="-51527"/>
            <a:ext cx="879830" cy="94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4B3F65-D174-473A-B9A3-7D405B29D5AA}"/>
              </a:ext>
            </a:extLst>
          </p:cNvPr>
          <p:cNvSpPr txBox="1"/>
          <p:nvPr userDrawn="1"/>
        </p:nvSpPr>
        <p:spPr>
          <a:xfrm>
            <a:off x="-35240" y="4876006"/>
            <a:ext cx="9144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Intelligent Image Analysis Lab                                                                                                       </a:t>
            </a:r>
            <a:r>
              <a:rPr lang="en-US" altLang="ko-KR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2023 </a:t>
            </a:r>
            <a:r>
              <a:rPr lang="ko-KR" altLang="en-US" sz="1100" b="1" dirty="0">
                <a:solidFill>
                  <a:schemeClr val="bg1">
                    <a:lumMod val="65000"/>
                  </a:schemeClr>
                </a:solidFill>
                <a:ea typeface="맑은 고딕" panose="020B0503020000020004" pitchFamily="50" charset="-127"/>
              </a:rPr>
              <a:t>한국정보기술학회 추계학술발표대회 자료 </a:t>
            </a:r>
            <a:fld id="{95FBD6DC-B1FE-400A-B8F6-D0681BEBA652}" type="slidenum">
              <a:rPr lang="ko-KR" altLang="en-US" sz="1100" b="1" kern="1200" smtClean="0">
                <a:solidFill>
                  <a:schemeClr val="tx1"/>
                </a:solidFill>
                <a:latin typeface="+mn-lt"/>
                <a:ea typeface="맑은 고딕" panose="020B0503020000020004" pitchFamily="50" charset="-127"/>
                <a:cs typeface="+mn-cs"/>
              </a:rPr>
              <a:pPr marL="0" marR="0" lvl="0" indent="0" algn="just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1100" b="1" kern="1200" dirty="0">
              <a:solidFill>
                <a:schemeClr val="tx1"/>
              </a:solidFill>
              <a:latin typeface="+mn-lt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2" r:id="rId3"/>
    <p:sldLayoutId id="2147483652" r:id="rId4"/>
    <p:sldLayoutId id="2147483661" r:id="rId5"/>
    <p:sldLayoutId id="2147483656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923928" y="2427734"/>
            <a:ext cx="5220072" cy="1296145"/>
          </a:xfrm>
        </p:spPr>
        <p:txBody>
          <a:bodyPr/>
          <a:lstStyle/>
          <a:p>
            <a:pPr lvl="0"/>
            <a:r>
              <a:rPr lang="en-US" altLang="ko-KR" sz="2000" dirty="0"/>
              <a:t>Retrieval-Augmented Generation for Knowledge-Intensive NLP Tasks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1">
                <a:latin typeface="맑은 고딕" panose="020B0503020000020004" pitchFamily="50" charset="-127"/>
                <a:ea typeface="맑은 고딕" panose="020B0503020000020004" pitchFamily="50" charset="-127"/>
              </a:rPr>
              <a:t>2026.01.22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Ju </a:t>
            </a:r>
            <a:r>
              <a:rPr lang="en-US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hyung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Lee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650519" y="2571750"/>
            <a:ext cx="129393" cy="1607036"/>
            <a:chOff x="3424672" y="2643758"/>
            <a:chExt cx="283232" cy="1584176"/>
          </a:xfrm>
        </p:grpSpPr>
        <p:sp>
          <p:nvSpPr>
            <p:cNvPr id="7" name="Rectangle 6"/>
            <p:cNvSpPr/>
            <p:nvPr userDrawn="1"/>
          </p:nvSpPr>
          <p:spPr>
            <a:xfrm>
              <a:off x="3635896" y="2643758"/>
              <a:ext cx="72008" cy="15841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3565490" y="2643758"/>
              <a:ext cx="72007" cy="1584176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3495081" y="2643758"/>
              <a:ext cx="72007" cy="1584176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3424672" y="2643758"/>
              <a:ext cx="72008" cy="158417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 txBox="1">
            <a:spLocks/>
          </p:cNvSpPr>
          <p:nvPr/>
        </p:nvSpPr>
        <p:spPr>
          <a:xfrm>
            <a:off x="0" y="267494"/>
            <a:ext cx="9144000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Contents</a:t>
            </a:r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3C442904-EE3B-E5EF-911B-91AA5F286CC0}"/>
              </a:ext>
            </a:extLst>
          </p:cNvPr>
          <p:cNvGrpSpPr/>
          <p:nvPr/>
        </p:nvGrpSpPr>
        <p:grpSpPr>
          <a:xfrm>
            <a:off x="2267744" y="1059582"/>
            <a:ext cx="6552728" cy="914400"/>
            <a:chOff x="1151472" y="3187501"/>
            <a:chExt cx="6552728" cy="914400"/>
          </a:xfrm>
        </p:grpSpPr>
        <p:sp>
          <p:nvSpPr>
            <p:cNvPr id="10" name="Pentagon 4">
              <a:extLst>
                <a:ext uri="{FF2B5EF4-FFF2-40B4-BE49-F238E27FC236}">
                  <a16:creationId xmlns:a16="http://schemas.microsoft.com/office/drawing/2014/main" id="{C8CEFB58-812F-8091-CC14-0F285BBAF2D0}"/>
                </a:ext>
              </a:extLst>
            </p:cNvPr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0" name="Pentagon 5">
              <a:extLst>
                <a:ext uri="{FF2B5EF4-FFF2-40B4-BE49-F238E27FC236}">
                  <a16:creationId xmlns:a16="http://schemas.microsoft.com/office/drawing/2014/main" id="{C2950C05-9941-2F5F-6CA2-C52968AD93A6}"/>
                </a:ext>
              </a:extLst>
            </p:cNvPr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21" name="Diamond 6">
              <a:extLst>
                <a:ext uri="{FF2B5EF4-FFF2-40B4-BE49-F238E27FC236}">
                  <a16:creationId xmlns:a16="http://schemas.microsoft.com/office/drawing/2014/main" id="{D173F3D3-B3B7-BECE-B508-1448865CE186}"/>
                </a:ext>
              </a:extLst>
            </p:cNvPr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sp>
        <p:nvSpPr>
          <p:cNvPr id="22" name="직사각형 39">
            <a:extLst>
              <a:ext uri="{FF2B5EF4-FFF2-40B4-BE49-F238E27FC236}">
                <a16:creationId xmlns:a16="http://schemas.microsoft.com/office/drawing/2014/main" id="{66E97B17-3382-ED5B-BEB2-BA36DEEBBC36}"/>
              </a:ext>
            </a:extLst>
          </p:cNvPr>
          <p:cNvSpPr/>
          <p:nvPr/>
        </p:nvSpPr>
        <p:spPr>
          <a:xfrm>
            <a:off x="2509438" y="1262927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1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23" name="Group 8">
            <a:extLst>
              <a:ext uri="{FF2B5EF4-FFF2-40B4-BE49-F238E27FC236}">
                <a16:creationId xmlns:a16="http://schemas.microsoft.com/office/drawing/2014/main" id="{F1D60D23-5B77-96A6-8DA6-D2761AAECA14}"/>
              </a:ext>
            </a:extLst>
          </p:cNvPr>
          <p:cNvGrpSpPr/>
          <p:nvPr/>
        </p:nvGrpSpPr>
        <p:grpSpPr>
          <a:xfrm>
            <a:off x="3275856" y="1283794"/>
            <a:ext cx="4859633" cy="502103"/>
            <a:chOff x="2196254" y="1825285"/>
            <a:chExt cx="4680002" cy="502103"/>
          </a:xfrm>
        </p:grpSpPr>
        <p:sp>
          <p:nvSpPr>
            <p:cNvPr id="25" name="TextBox 10">
              <a:extLst>
                <a:ext uri="{FF2B5EF4-FFF2-40B4-BE49-F238E27FC236}">
                  <a16:creationId xmlns:a16="http://schemas.microsoft.com/office/drawing/2014/main" id="{783590D5-7130-21F9-01C8-1EB536E25F2C}"/>
                </a:ext>
              </a:extLst>
            </p:cNvPr>
            <p:cNvSpPr txBox="1"/>
            <p:nvPr/>
          </p:nvSpPr>
          <p:spPr bwMode="auto">
            <a:xfrm>
              <a:off x="2196254" y="1825285"/>
              <a:ext cx="4576856" cy="461665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Introduction</a:t>
              </a:r>
            </a:p>
          </p:txBody>
        </p:sp>
        <p:sp>
          <p:nvSpPr>
            <p:cNvPr id="27" name="TextBox 12">
              <a:extLst>
                <a:ext uri="{FF2B5EF4-FFF2-40B4-BE49-F238E27FC236}">
                  <a16:creationId xmlns:a16="http://schemas.microsoft.com/office/drawing/2014/main" id="{078856E9-62A9-1FBD-247A-FEAE021EFD92}"/>
                </a:ext>
              </a:extLst>
            </p:cNvPr>
            <p:cNvSpPr txBox="1"/>
            <p:nvPr/>
          </p:nvSpPr>
          <p:spPr bwMode="auto">
            <a:xfrm>
              <a:off x="2299400" y="2050389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9" name="Group 11">
            <a:extLst>
              <a:ext uri="{FF2B5EF4-FFF2-40B4-BE49-F238E27FC236}">
                <a16:creationId xmlns:a16="http://schemas.microsoft.com/office/drawing/2014/main" id="{6FC63088-AEB3-C45B-2A87-802E6E19180D}"/>
              </a:ext>
            </a:extLst>
          </p:cNvPr>
          <p:cNvGrpSpPr/>
          <p:nvPr/>
        </p:nvGrpSpPr>
        <p:grpSpPr>
          <a:xfrm>
            <a:off x="2267744" y="1969713"/>
            <a:ext cx="6552728" cy="914400"/>
            <a:chOff x="1151472" y="3187501"/>
            <a:chExt cx="6552728" cy="914400"/>
          </a:xfrm>
        </p:grpSpPr>
        <p:sp>
          <p:nvSpPr>
            <p:cNvPr id="31" name="Pentagon 12">
              <a:extLst>
                <a:ext uri="{FF2B5EF4-FFF2-40B4-BE49-F238E27FC236}">
                  <a16:creationId xmlns:a16="http://schemas.microsoft.com/office/drawing/2014/main" id="{043F68B9-ECDB-D8F2-47ED-904611DCA4CB}"/>
                </a:ext>
              </a:extLst>
            </p:cNvPr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3" name="Pentagon 13">
              <a:extLst>
                <a:ext uri="{FF2B5EF4-FFF2-40B4-BE49-F238E27FC236}">
                  <a16:creationId xmlns:a16="http://schemas.microsoft.com/office/drawing/2014/main" id="{8691DD76-BCAC-A73E-EBDA-A2F9A6355911}"/>
                </a:ext>
              </a:extLst>
            </p:cNvPr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4" name="Diamond 14">
              <a:extLst>
                <a:ext uri="{FF2B5EF4-FFF2-40B4-BE49-F238E27FC236}">
                  <a16:creationId xmlns:a16="http://schemas.microsoft.com/office/drawing/2014/main" id="{A4181031-3E75-0E24-8F74-9B7803705E1F}"/>
                </a:ext>
              </a:extLst>
            </p:cNvPr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35" name="Group 15">
            <a:extLst>
              <a:ext uri="{FF2B5EF4-FFF2-40B4-BE49-F238E27FC236}">
                <a16:creationId xmlns:a16="http://schemas.microsoft.com/office/drawing/2014/main" id="{BBA61CB4-F0D3-7A1E-56A6-E1514FF70095}"/>
              </a:ext>
            </a:extLst>
          </p:cNvPr>
          <p:cNvGrpSpPr/>
          <p:nvPr/>
        </p:nvGrpSpPr>
        <p:grpSpPr>
          <a:xfrm>
            <a:off x="2261732" y="2905636"/>
            <a:ext cx="6552728" cy="914400"/>
            <a:chOff x="1151472" y="3187501"/>
            <a:chExt cx="6552728" cy="914400"/>
          </a:xfrm>
        </p:grpSpPr>
        <p:sp>
          <p:nvSpPr>
            <p:cNvPr id="36" name="Pentagon 16">
              <a:extLst>
                <a:ext uri="{FF2B5EF4-FFF2-40B4-BE49-F238E27FC236}">
                  <a16:creationId xmlns:a16="http://schemas.microsoft.com/office/drawing/2014/main" id="{33CFC4FF-26E0-DD0A-5F99-D386FFCD4A79}"/>
                </a:ext>
              </a:extLst>
            </p:cNvPr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7" name="Pentagon 17">
              <a:extLst>
                <a:ext uri="{FF2B5EF4-FFF2-40B4-BE49-F238E27FC236}">
                  <a16:creationId xmlns:a16="http://schemas.microsoft.com/office/drawing/2014/main" id="{797CAC3B-356C-5029-84BF-856F7F9F99B9}"/>
                </a:ext>
              </a:extLst>
            </p:cNvPr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8" name="Diamond 18">
              <a:extLst>
                <a:ext uri="{FF2B5EF4-FFF2-40B4-BE49-F238E27FC236}">
                  <a16:creationId xmlns:a16="http://schemas.microsoft.com/office/drawing/2014/main" id="{3D7190C2-9C49-3C5D-5917-8F8ACFCAF970}"/>
                </a:ext>
              </a:extLst>
            </p:cNvPr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9" name="Group 19">
            <a:extLst>
              <a:ext uri="{FF2B5EF4-FFF2-40B4-BE49-F238E27FC236}">
                <a16:creationId xmlns:a16="http://schemas.microsoft.com/office/drawing/2014/main" id="{52CF69C5-96AE-749D-886A-A4F38549A292}"/>
              </a:ext>
            </a:extLst>
          </p:cNvPr>
          <p:cNvGrpSpPr/>
          <p:nvPr/>
        </p:nvGrpSpPr>
        <p:grpSpPr>
          <a:xfrm>
            <a:off x="2258726" y="3828663"/>
            <a:ext cx="6552728" cy="914400"/>
            <a:chOff x="1151472" y="3187501"/>
            <a:chExt cx="6552728" cy="914400"/>
          </a:xfrm>
        </p:grpSpPr>
        <p:sp>
          <p:nvSpPr>
            <p:cNvPr id="40" name="Pentagon 20">
              <a:extLst>
                <a:ext uri="{FF2B5EF4-FFF2-40B4-BE49-F238E27FC236}">
                  <a16:creationId xmlns:a16="http://schemas.microsoft.com/office/drawing/2014/main" id="{A9E87487-02A8-2DA8-3381-71EE75FB856C}"/>
                </a:ext>
              </a:extLst>
            </p:cNvPr>
            <p:cNvSpPr/>
            <p:nvPr/>
          </p:nvSpPr>
          <p:spPr>
            <a:xfrm>
              <a:off x="1633824" y="3347030"/>
              <a:ext cx="6070376" cy="720000"/>
            </a:xfrm>
            <a:prstGeom prst="homePlat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1" name="Pentagon 21">
              <a:extLst>
                <a:ext uri="{FF2B5EF4-FFF2-40B4-BE49-F238E27FC236}">
                  <a16:creationId xmlns:a16="http://schemas.microsoft.com/office/drawing/2014/main" id="{D5A0213C-C41E-13B9-F7B5-E7BA63C9A194}"/>
                </a:ext>
              </a:extLst>
            </p:cNvPr>
            <p:cNvSpPr/>
            <p:nvPr/>
          </p:nvSpPr>
          <p:spPr>
            <a:xfrm>
              <a:off x="1633824" y="3284701"/>
              <a:ext cx="5914970" cy="720000"/>
            </a:xfrm>
            <a:prstGeom prst="homePlate">
              <a:avLst/>
            </a:prstGeom>
            <a:solidFill>
              <a:schemeClr val="bg1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2" name="Diamond 22">
              <a:extLst>
                <a:ext uri="{FF2B5EF4-FFF2-40B4-BE49-F238E27FC236}">
                  <a16:creationId xmlns:a16="http://schemas.microsoft.com/office/drawing/2014/main" id="{37974A22-9BFA-427F-2BA6-DF60EFC6EA2A}"/>
                </a:ext>
              </a:extLst>
            </p:cNvPr>
            <p:cNvSpPr/>
            <p:nvPr/>
          </p:nvSpPr>
          <p:spPr>
            <a:xfrm>
              <a:off x="1151472" y="3187501"/>
              <a:ext cx="914400" cy="914400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sp>
        <p:nvSpPr>
          <p:cNvPr id="43" name="직사각형 39">
            <a:extLst>
              <a:ext uri="{FF2B5EF4-FFF2-40B4-BE49-F238E27FC236}">
                <a16:creationId xmlns:a16="http://schemas.microsoft.com/office/drawing/2014/main" id="{E7A80F1E-D13E-8C69-C86A-BAB8C88A3662}"/>
              </a:ext>
            </a:extLst>
          </p:cNvPr>
          <p:cNvSpPr/>
          <p:nvPr/>
        </p:nvSpPr>
        <p:spPr>
          <a:xfrm>
            <a:off x="2509438" y="2187449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2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45" name="TextBox 10">
            <a:extLst>
              <a:ext uri="{FF2B5EF4-FFF2-40B4-BE49-F238E27FC236}">
                <a16:creationId xmlns:a16="http://schemas.microsoft.com/office/drawing/2014/main" id="{042A88E5-4517-E3B0-2264-35B37BDD0585}"/>
              </a:ext>
            </a:extLst>
          </p:cNvPr>
          <p:cNvSpPr txBox="1"/>
          <p:nvPr/>
        </p:nvSpPr>
        <p:spPr bwMode="auto">
          <a:xfrm>
            <a:off x="3275856" y="2196190"/>
            <a:ext cx="4752528" cy="46166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Method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7" name="직사각형 39">
            <a:extLst>
              <a:ext uri="{FF2B5EF4-FFF2-40B4-BE49-F238E27FC236}">
                <a16:creationId xmlns:a16="http://schemas.microsoft.com/office/drawing/2014/main" id="{B2A3CA27-EA3C-D286-E933-3D2672BAF3C0}"/>
              </a:ext>
            </a:extLst>
          </p:cNvPr>
          <p:cNvSpPr/>
          <p:nvPr/>
        </p:nvSpPr>
        <p:spPr>
          <a:xfrm>
            <a:off x="2509438" y="3111971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3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49" name="TextBox 10">
            <a:extLst>
              <a:ext uri="{FF2B5EF4-FFF2-40B4-BE49-F238E27FC236}">
                <a16:creationId xmlns:a16="http://schemas.microsoft.com/office/drawing/2014/main" id="{9F3FEC2E-7450-2F40-2B51-25A3D05F8A9E}"/>
              </a:ext>
            </a:extLst>
          </p:cNvPr>
          <p:cNvSpPr txBox="1"/>
          <p:nvPr/>
        </p:nvSpPr>
        <p:spPr bwMode="auto">
          <a:xfrm>
            <a:off x="3275856" y="3135491"/>
            <a:ext cx="4752528" cy="46166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Experiment</a:t>
            </a:r>
            <a:endParaRPr lang="en-US" altLang="ko-KR" sz="1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1" name="직사각형 39">
            <a:extLst>
              <a:ext uri="{FF2B5EF4-FFF2-40B4-BE49-F238E27FC236}">
                <a16:creationId xmlns:a16="http://schemas.microsoft.com/office/drawing/2014/main" id="{24945693-0791-B93C-4D3E-5AE7D61B8982}"/>
              </a:ext>
            </a:extLst>
          </p:cNvPr>
          <p:cNvSpPr/>
          <p:nvPr/>
        </p:nvSpPr>
        <p:spPr>
          <a:xfrm>
            <a:off x="2509438" y="4036493"/>
            <a:ext cx="403184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4 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53" name="TextBox 10">
            <a:extLst>
              <a:ext uri="{FF2B5EF4-FFF2-40B4-BE49-F238E27FC236}">
                <a16:creationId xmlns:a16="http://schemas.microsoft.com/office/drawing/2014/main" id="{3799AEA1-F38C-E20B-2D45-50C2BBBDC54B}"/>
              </a:ext>
            </a:extLst>
          </p:cNvPr>
          <p:cNvSpPr txBox="1"/>
          <p:nvPr/>
        </p:nvSpPr>
        <p:spPr bwMode="auto">
          <a:xfrm>
            <a:off x="3275856" y="4055030"/>
            <a:ext cx="4752528" cy="461665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095055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6425A-5B89-58C3-F8BE-A444EC58D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FA699A-F73D-5E27-85EA-A55CEC7663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Introduction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467712-ED62-0D36-343C-E38396BB7B38}"/>
              </a:ext>
            </a:extLst>
          </p:cNvPr>
          <p:cNvSpPr/>
          <p:nvPr/>
        </p:nvSpPr>
        <p:spPr>
          <a:xfrm>
            <a:off x="719572" y="1347614"/>
            <a:ext cx="770485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2000" dirty="0">
                <a:solidFill>
                  <a:srgbClr val="3D41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Problem: pre-trained language model is parametric – hard to update, interpret, avoid hallucination  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D4144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D41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Idea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3D4144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: Co</a:t>
            </a:r>
            <a:r>
              <a:rPr lang="en-US" altLang="ko-KR" sz="2000" dirty="0" err="1">
                <a:solidFill>
                  <a:srgbClr val="3D41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mbine</a:t>
            </a:r>
            <a:r>
              <a:rPr lang="en-US" altLang="ko-KR" sz="2000" dirty="0">
                <a:solidFill>
                  <a:srgbClr val="3D41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retrieval-based external memory + parametric seq2seq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D4144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rgbClr val="3D4144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Method: DPR(Dense Passage Retrieval) retrieves docs -&gt; BART generates -&gt; marginalized over top-K docs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3D4144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4371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Introduction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AC6961A-EE0A-D1AD-4B15-5EBDC42586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49" r="-1031" b="27276"/>
          <a:stretch/>
        </p:blipFill>
        <p:spPr bwMode="auto">
          <a:xfrm>
            <a:off x="1043608" y="987574"/>
            <a:ext cx="7056784" cy="2160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직사각형 3"/>
              <p:cNvSpPr/>
              <p:nvPr/>
            </p:nvSpPr>
            <p:spPr>
              <a:xfrm>
                <a:off x="1043608" y="3363838"/>
                <a:ext cx="6984776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dirty="0" smtClean="0">
                        <a:solidFill>
                          <a:srgbClr val="3D4144"/>
                        </a:solidFill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b="0" i="0" dirty="0">
                    <a:solidFill>
                      <a:srgbClr val="3D4144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input query</a:t>
                </a: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3D4144"/>
                        </a:solidFill>
                        <a:effectLst/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ko-KR" b="0" i="0" dirty="0">
                    <a:solidFill>
                      <a:srgbClr val="3D4144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text document</a:t>
                </a:r>
                <a:endParaRPr lang="en-US" altLang="ko-KR" dirty="0">
                  <a:solidFill>
                    <a:srgbClr val="3D4144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3D4144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b="0" i="0" dirty="0">
                    <a:solidFill>
                      <a:srgbClr val="3D4144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answer sequence</a:t>
                </a:r>
              </a:p>
              <a:p>
                <a:r>
                  <a:rPr lang="en-US" altLang="ko-KR" dirty="0">
                    <a:solidFill>
                      <a:srgbClr val="3D4144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MIPS(Maximum Inner Product Search): find the top-K document</a:t>
                </a:r>
                <a:endParaRPr lang="ko-KR" altLang="en-US" b="0" i="0" dirty="0">
                  <a:solidFill>
                    <a:srgbClr val="3D4144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>
          <p:sp>
            <p:nvSpPr>
              <p:cNvPr id="4" name="직사각형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608" y="3363838"/>
                <a:ext cx="6984776" cy="1200329"/>
              </a:xfrm>
              <a:prstGeom prst="rect">
                <a:avLst/>
              </a:prstGeom>
              <a:blipFill>
                <a:blip r:embed="rId4"/>
                <a:stretch>
                  <a:fillRect l="-698" t="-3046" b="-71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9406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DC86F-F8F9-A341-97D0-D4C41D5FF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06CE857-07FA-C179-6418-13DD1F63E3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Models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87269" y="1445917"/>
                <a:ext cx="8569462" cy="3080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𝑅𝐴𝐺</m:t>
                        </m:r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𝑆𝑒𝑞𝑢𝑒𝑛𝑐𝑒</m:t>
                        </m:r>
                        <m:r>
                          <a:rPr lang="en-US" altLang="ko-KR" sz="1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500" b="0" i="1" smtClean="0">
                        <a:latin typeface="Cambria Math" panose="02040503050406030204" pitchFamily="18" charset="0"/>
                      </a:rPr>
                      <m:t>)≈</m:t>
                    </m:r>
                  </m:oMath>
                </a14:m>
                <a:r>
                  <a:rPr lang="ko-KR" altLang="en-US" sz="15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ko-KR" altLang="en-US" sz="15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5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𝑡𝑜𝑝</m:t>
                        </m:r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altLang="ko-KR" sz="15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brk m:alnAt="7"/>
                              </m:rPr>
                              <a:rPr lang="en-US" altLang="ko-KR" sz="15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ko-KR" sz="15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15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15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sub>
                      <m:sup/>
                      <m:e>
                        <m:sSub>
                          <m:sSubPr>
                            <m:ctrlPr>
                              <a:rPr lang="en-US" altLang="ko-KR" sz="15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5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500" i="1" dirty="0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5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altLang="ko-KR" sz="15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  <m:sSub>
                      <m:sSubPr>
                        <m:ctrlPr>
                          <a:rPr lang="en-US" altLang="ko-KR" sz="15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ko-KR" altLang="en-US" sz="1500" b="0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sz="15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ko-KR" sz="1500" b="0" i="1" dirty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ko-KR" altLang="en-US" sz="15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sz="1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ko-KR" sz="1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𝑡𝑜𝑝</m:t>
                        </m:r>
                        <m:r>
                          <a:rPr lang="en-US" altLang="ko-KR" sz="15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­</m:t>
                        </m:r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−­­­­­</m:t>
                        </m:r>
                        <m:r>
                          <a:rPr lang="en-US" altLang="ko-KR" sz="15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altLang="ko-KR" sz="15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brk m:alnAt="7"/>
                              </m:rPr>
                              <a:rPr lang="en-US" altLang="ko-KR" sz="15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ko-KR" sz="15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15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15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sub>
                      <m:sup/>
                      <m:e>
                        <m:sSub>
                          <m:sSubPr>
                            <m:ctrlPr>
                              <a:rPr lang="en-US" altLang="ko-KR" sz="15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5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500" i="1" dirty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en-US" altLang="ko-KR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500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US" altLang="ko-KR" sz="15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nary>
                      <m:naryPr>
                        <m:chr m:val="∏"/>
                        <m:ctrlPr>
                          <a:rPr lang="en-US" altLang="ko-KR" sz="15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5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sz="15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5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5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5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5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5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sz="15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ko-KR" sz="15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15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5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ko-KR" sz="1500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15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5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sz="1500" b="0" i="1" dirty="0" smtClean="0">
                                    <a:latin typeface="Cambria Math" panose="02040503050406030204" pitchFamily="18" charset="0"/>
                                  </a:rPr>
                                  <m:t>1:</m:t>
                                </m:r>
                                <m:r>
                                  <a:rPr lang="en-US" altLang="ko-KR" sz="15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500" b="0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ko-KR" altLang="en-US" sz="15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69" y="1445917"/>
                <a:ext cx="8569462" cy="308098"/>
              </a:xfrm>
              <a:prstGeom prst="rect">
                <a:avLst/>
              </a:prstGeom>
              <a:blipFill>
                <a:blip r:embed="rId3"/>
                <a:stretch>
                  <a:fillRect l="-782" t="-123529" b="-1764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287269" y="2022756"/>
                <a:ext cx="5646161" cy="3286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𝑅𝐴𝐺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𝑇𝑜𝑘𝑒𝑛</m:t>
                        </m:r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)≈</m:t>
                    </m:r>
                  </m:oMath>
                </a14:m>
                <a:r>
                  <a:rPr lang="ko-KR" altLang="en-US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ko-KR" altLang="en-US" sz="160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ko-KR" sz="16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ko-KR" altLang="en-US" sz="16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𝑡𝑜𝑝</m:t>
                            </m:r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­−­­­­­</m:t>
                            </m:r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d>
                              <m:dPr>
                                <m:ctrlPr>
                                  <a:rPr lang="en-US" altLang="ko-KR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altLang="ko-KR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ko-KR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</m: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ko-KR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i="1" dirty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ko-KR" altLang="en-US" sz="1600" i="1" dirty="0"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sub>
                            </m:sSub>
                          </m:e>
                        </m:nary>
                        <m:d>
                          <m:dPr>
                            <m:ctrlP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sSub>
                          <m:sSubPr>
                            <m:ctrlP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sz="16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sz="16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altLang="ko-KR" sz="16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sz="1600" i="1" dirty="0">
                                    <a:latin typeface="Cambria Math" panose="02040503050406030204" pitchFamily="18" charset="0"/>
                                  </a:rPr>
                                  <m:t>1:</m:t>
                                </m:r>
                                <m:r>
                                  <a:rPr lang="en-US" altLang="ko-KR" sz="16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altLang="ko-KR" sz="1600" i="1" dirty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69" y="2022756"/>
                <a:ext cx="5646161" cy="328616"/>
              </a:xfrm>
              <a:prstGeom prst="rect">
                <a:avLst/>
              </a:prstGeom>
              <a:blipFill>
                <a:blip r:embed="rId4"/>
                <a:stretch>
                  <a:fillRect l="-1188" t="-122222" b="-1685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직사각형 21"/>
              <p:cNvSpPr/>
              <p:nvPr/>
            </p:nvSpPr>
            <p:spPr>
              <a:xfrm>
                <a:off x="179512" y="2931790"/>
                <a:ext cx="8039510" cy="14569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Retriever: DPR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(Dense Passage Retriever)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∝</m:t>
                    </m:r>
                    <m:func>
                      <m:func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dirty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ko-KR" b="1" i="1" dirty="0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d>
                                  <m:dPr>
                                    <m:ctrlP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ko-KR" b="1" i="1" dirty="0" smtClean="0">
                                <a:latin typeface="Cambria Math" panose="02040503050406030204" pitchFamily="18" charset="0"/>
                              </a:rPr>
                              <m:t>𝒒</m:t>
                            </m:r>
                            <m:d>
                              <m:dPr>
                                <m:ctrlP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ko-KR" b="1" i="1" dirty="0" smtClean="0">
                        <a:latin typeface="Cambria Math" panose="02040503050406030204" pitchFamily="18" charset="0"/>
                      </a:rPr>
                      <m:t>𝒅</m:t>
                    </m:r>
                    <m:d>
                      <m:d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𝑩𝑬𝑹𝑻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dirty="0" smtClean="0">
                            <a:latin typeface="Cambria Math" panose="02040503050406030204" pitchFamily="18" charset="0"/>
                          </a:rPr>
                          <m:t>𝑩𝑬𝑹𝑻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6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Generator</a:t>
                </a:r>
                <a:r>
                  <a:rPr lang="en-US" altLang="ko-KR" sz="16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:r>
                  <a:rPr lang="en-US" altLang="ko-KR" sz="16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BART-large</a:t>
                </a:r>
                <a:endPara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ko-KR" altLang="en-US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>
          <p:sp>
            <p:nvSpPr>
              <p:cNvPr id="22" name="직사각형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2931790"/>
                <a:ext cx="8039510" cy="1456937"/>
              </a:xfrm>
              <a:prstGeom prst="rect">
                <a:avLst/>
              </a:prstGeom>
              <a:blipFill>
                <a:blip r:embed="rId5"/>
                <a:stretch>
                  <a:fillRect l="-303" t="-1255" b="-125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직사각형 22"/>
          <p:cNvSpPr/>
          <p:nvPr/>
        </p:nvSpPr>
        <p:spPr>
          <a:xfrm>
            <a:off x="179512" y="1301901"/>
            <a:ext cx="8712968" cy="11521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7033E87-1114-245C-10C9-F1637BF21542}"/>
              </a:ext>
            </a:extLst>
          </p:cNvPr>
          <p:cNvSpPr/>
          <p:nvPr/>
        </p:nvSpPr>
        <p:spPr>
          <a:xfrm>
            <a:off x="3347864" y="1425399"/>
            <a:ext cx="720080" cy="32861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5BA4CBA-5F2C-15BE-C62E-2F36153D291E}"/>
              </a:ext>
            </a:extLst>
          </p:cNvPr>
          <p:cNvCxnSpPr>
            <a:cxnSpLocks/>
          </p:cNvCxnSpPr>
          <p:nvPr/>
        </p:nvCxnSpPr>
        <p:spPr>
          <a:xfrm>
            <a:off x="3419872" y="1754015"/>
            <a:ext cx="57606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C9F59A2-F47C-FB5B-97AE-8769D7B5D0DF}"/>
              </a:ext>
            </a:extLst>
          </p:cNvPr>
          <p:cNvCxnSpPr/>
          <p:nvPr/>
        </p:nvCxnSpPr>
        <p:spPr>
          <a:xfrm>
            <a:off x="4139952" y="1753683"/>
            <a:ext cx="64807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815FA45-9E70-2CF7-49E6-26236955E892}"/>
              </a:ext>
            </a:extLst>
          </p:cNvPr>
          <p:cNvSpPr txBox="1"/>
          <p:nvPr/>
        </p:nvSpPr>
        <p:spPr>
          <a:xfrm>
            <a:off x="3347864" y="919189"/>
            <a:ext cx="7200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retriever</a:t>
            </a:r>
            <a:endParaRPr lang="ko-KR" altLang="en-US" sz="11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4A6D5B-92A5-EB94-EDFE-8AF00F266169}"/>
              </a:ext>
            </a:extLst>
          </p:cNvPr>
          <p:cNvSpPr txBox="1"/>
          <p:nvPr/>
        </p:nvSpPr>
        <p:spPr>
          <a:xfrm>
            <a:off x="4081799" y="915566"/>
            <a:ext cx="7920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generator</a:t>
            </a:r>
            <a:endParaRPr lang="ko-KR" altLang="en-US" sz="11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AB116209-8B10-7A6A-F1AD-2BCABBEE5CF4}"/>
              </a:ext>
            </a:extLst>
          </p:cNvPr>
          <p:cNvCxnSpPr>
            <a:cxnSpLocks/>
            <a:endCxn id="14" idx="2"/>
          </p:cNvCxnSpPr>
          <p:nvPr/>
        </p:nvCxnSpPr>
        <p:spPr>
          <a:xfrm flipV="1">
            <a:off x="4477843" y="1346453"/>
            <a:ext cx="0" cy="11492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5E54EBD-3BD8-23D3-7637-EB07BF212A8F}"/>
              </a:ext>
            </a:extLst>
          </p:cNvPr>
          <p:cNvCxnSpPr>
            <a:cxnSpLocks/>
          </p:cNvCxnSpPr>
          <p:nvPr/>
        </p:nvCxnSpPr>
        <p:spPr>
          <a:xfrm flipV="1">
            <a:off x="3707904" y="1180799"/>
            <a:ext cx="0" cy="2446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365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D2CC2-9985-B042-118C-C58C89AAB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A537562-E10D-3554-4B0F-37432BD1E7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Training Method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F4F543-6EB0-5436-B460-04E227277AB6}"/>
                  </a:ext>
                </a:extLst>
              </p:cNvPr>
              <p:cNvSpPr txBox="1"/>
              <p:nvPr/>
            </p:nvSpPr>
            <p:spPr>
              <a:xfrm>
                <a:off x="395536" y="1419622"/>
                <a:ext cx="7920880" cy="23872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marR="0" lvl="0" indent="-285750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ko-KR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Jointly train the retriever and generator without any direct supervision on what document should be retrieved.</a:t>
                </a:r>
              </a:p>
              <a:p>
                <a:pPr marL="285750" marR="0" lvl="0" indent="-285750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marR="0" lvl="0" indent="-285750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ko-KR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input/output pairs :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𝑗</m:t>
                        </m:r>
                      </m:sub>
                    </m:sSub>
                    <m:r>
                      <a:rPr lang="en-US" altLang="ko-KR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, </m:t>
                    </m:r>
                    <m:sSub>
                      <m:sSubPr>
                        <m:ctrlPr>
                          <a:rPr lang="en-US" altLang="ko-KR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𝑗</m:t>
                        </m:r>
                      </m:sub>
                    </m:sSub>
                  </m:oMath>
                </a14:m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</a:p>
              <a:p>
                <a:pPr marR="0" lvl="0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Minimize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kumimoji="0" lang="en-US" altLang="ko-K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0" lang="en-US" altLang="ko-K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𝑗</m:t>
                        </m:r>
                      </m:sub>
                      <m:sup/>
                      <m:e>
                        <m:r>
                          <a:rPr kumimoji="0" lang="en-US" altLang="ko-KR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−</m:t>
                        </m:r>
                        <m:func>
                          <m:funcPr>
                            <m:ctrlPr>
                              <a:rPr kumimoji="0" lang="en-US" altLang="ko-K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0" lang="en-US" altLang="ko-KR" sz="18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</a:rPr>
                              <m:t>log</m:t>
                            </m:r>
                          </m:fName>
                          <m:e>
                            <m:r>
                              <a:rPr kumimoji="0" lang="en-US" altLang="ko-K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</a:rPr>
                              <m:t>𝑝</m:t>
                            </m:r>
                            <m:r>
                              <a:rPr kumimoji="0" lang="en-US" altLang="ko-K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kumimoji="0" lang="en-US" altLang="ko-KR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ko-KR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kumimoji="0" lang="en-US" altLang="ko-KR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kumimoji="0" lang="en-US" altLang="ko-K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0" lang="en-US" altLang="ko-KR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ko-KR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altLang="ko-KR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kumimoji="0" lang="en-US" altLang="ko-KR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using stochastic gradient descent with Adam.</a:t>
                </a:r>
              </a:p>
              <a:p>
                <a:pPr marL="285750" marR="0" lvl="0" indent="-285750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US" altLang="ko-KR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marR="0" lvl="0" indent="-285750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ko-KR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Keep the </a:t>
                </a:r>
                <a:r>
                  <a:rPr lang="en-US" altLang="ko-KR" b="1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document </a:t>
                </a:r>
                <a:r>
                  <a:rPr lang="en-US" altLang="ko-KR" b="1" dirty="0" err="1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encorder</a:t>
                </a:r>
                <a:r>
                  <a:rPr lang="en-US" altLang="ko-KR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fixed, (because of cost issue)</a:t>
                </a:r>
              </a:p>
              <a:p>
                <a:pPr marR="0" lvl="0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lang="en-US" altLang="ko-KR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Only finetune </a:t>
                </a:r>
                <a:r>
                  <a:rPr lang="en-US" altLang="ko-KR" b="1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query encoder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𝑩𝑬𝑹𝑻</m:t>
                        </m:r>
                      </m:e>
                      <m:sub>
                        <m:r>
                          <a:rPr lang="en-US" altLang="ko-KR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𝒒</m:t>
                        </m:r>
                      </m:sub>
                    </m:sSub>
                  </m:oMath>
                </a14:m>
                <a:r>
                  <a:rPr kumimoji="0" lang="en-US" altLang="ko-KR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kumimoji="0" lang="en-US" altLang="ko-K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and </a:t>
                </a:r>
                <a14:m>
                  <m:oMath xmlns:m="http://schemas.openxmlformats.org/officeDocument/2006/math">
                    <m:r>
                      <a:rPr kumimoji="0" lang="en-US" altLang="ko-KR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𝑩𝑨𝑹𝑻</m:t>
                    </m:r>
                  </m:oMath>
                </a14:m>
                <a:r>
                  <a:rPr kumimoji="0" lang="en-US" altLang="ko-KR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generator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9F4F543-6EB0-5436-B460-04E227277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419622"/>
                <a:ext cx="7920880" cy="2387257"/>
              </a:xfrm>
              <a:prstGeom prst="rect">
                <a:avLst/>
              </a:prstGeom>
              <a:blipFill>
                <a:blip r:embed="rId2"/>
                <a:stretch>
                  <a:fillRect l="-539" t="-1535" r="-1155" b="-20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2547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5730F-E468-BBFA-FF6E-5BA463320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6CBE313-A156-AC97-3262-530092441D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Decoding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FA8FE9-4551-2903-DF47-167FC7546767}"/>
                  </a:ext>
                </a:extLst>
              </p:cNvPr>
              <p:cNvSpPr txBox="1"/>
              <p:nvPr/>
            </p:nvSpPr>
            <p:spPr>
              <a:xfrm>
                <a:off x="395536" y="915565"/>
                <a:ext cx="7920880" cy="37710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marR="0" lvl="0" indent="-285750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altLang="ko-KR" b="1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RAG-Token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Document mixture per token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Behaves like a standard autoregressive seq2seq decoder</a:t>
                </a:r>
                <a:endParaRPr kumimoji="0" lang="en-US" altLang="ko-KR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𝑝</m:t>
                        </m:r>
                        <m:r>
                          <a:rPr lang="en-US" altLang="ko-KR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′</m:t>
                        </m:r>
                      </m:e>
                      <m:sub>
                        <m:r>
                          <a:rPr lang="ko-KR" altLang="en-US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ko-KR" alt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𝑡𝑜𝑝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­−­­­­­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brk m:alnAt="7"/>
                              </m:rPr>
                              <a:rPr lang="en-US" altLang="ko-KR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ko-KR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</m:e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ko-KR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sub>
                      <m:sup/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ko-KR" altLang="en-US" i="1" dirty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lvl="0">
                  <a:defRPr/>
                </a:pPr>
                <a:endParaRPr lang="en-US" altLang="ko-KR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b="1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RAG-Sequence</a:t>
                </a:r>
                <a:endParaRPr lang="en-US" altLang="ko-KR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One document per output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beam search for each document z,</a:t>
                </a:r>
              </a:p>
              <a:p>
                <a:pPr lvl="1">
                  <a:defRPr/>
                </a:pP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scoring each hypothesis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1:</m:t>
                            </m:r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lvl="0" indent="-285750">
                  <a:buFont typeface="Wingdings" panose="05000000000000000000" pitchFamily="2" charset="2"/>
                  <a:buChar char="Ø"/>
                  <a:defRPr/>
                </a:pP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Thorough Decoding: computes full marginals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Fast Decoding: approximation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𝒑</m:t>
                        </m:r>
                      </m:e>
                      <m:sub>
                        <m:r>
                          <a:rPr lang="ko-KR" altLang="en-US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altLang="ko-KR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𝒚</m:t>
                        </m:r>
                      </m:e>
                      <m:e>
                        <m:r>
                          <a:rPr lang="en-US" altLang="ko-KR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𝒙</m:t>
                        </m:r>
                        <m:r>
                          <a:rPr lang="en-US" altLang="ko-KR" b="1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</a:rPr>
                              <m:t>𝒛</m:t>
                            </m:r>
                          </m:e>
                          <m:sub>
                            <m:r>
                              <a:rPr lang="en-US" altLang="ko-KR" b="1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en-US" altLang="ko-KR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ko-KR" b="1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kumimoji="0" lang="en-US" altLang="ko-KR" sz="1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if</a:t>
                </a:r>
                <a:r>
                  <a:rPr kumimoji="0" lang="en-US" altLang="ko-KR" sz="180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kern="1200" cap="none" spc="0" normalizeH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𝑦</m:t>
                    </m:r>
                  </m:oMath>
                </a14:m>
                <a:r>
                  <a:rPr kumimoji="0" lang="en-US" altLang="ko-KR" sz="1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not generated from </a:t>
                </a:r>
                <a14:m>
                  <m:oMath xmlns:m="http://schemas.openxmlformats.org/officeDocument/2006/math">
                    <m:r>
                      <a:rPr kumimoji="0" lang="en-US" altLang="ko-KR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𝑧</m:t>
                    </m:r>
                  </m:oMath>
                </a14:m>
                <a:endParaRPr kumimoji="0" lang="en-US" altLang="ko-KR" sz="18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0FA8FE9-4551-2903-DF47-167FC7546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915565"/>
                <a:ext cx="7920880" cy="3771097"/>
              </a:xfrm>
              <a:prstGeom prst="rect">
                <a:avLst/>
              </a:prstGeom>
              <a:blipFill>
                <a:blip r:embed="rId3"/>
                <a:stretch>
                  <a:fillRect l="-539" t="-808" b="-14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extLst>
              <a:ext uri="{FF2B5EF4-FFF2-40B4-BE49-F238E27FC236}">
                <a16:creationId xmlns:a16="http://schemas.microsoft.com/office/drawing/2014/main" id="{556FA6B5-963A-E842-1D70-482264AF7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2067694"/>
            <a:ext cx="2725728" cy="2003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1784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AF484-E968-C663-D104-F71DA0132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2CAAAE-BA35-0A3A-1101-5F2BE7CFBC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Experiments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9D4BE7B-27B3-5762-C3EE-A285E9B1CB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215516" y="1486114"/>
                <a:ext cx="8712968" cy="25853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marR="0" lvl="0" indent="-28575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ko-KR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Knowledge </a:t>
                </a:r>
                <a:r>
                  <a:rPr kumimoji="0" lang="ko-KR" altLang="ko-KR" sz="1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Source</a:t>
                </a:r>
                <a:r>
                  <a:rPr kumimoji="0" lang="ko-KR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Wikipedia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dump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(</a:t>
                </a:r>
                <a:r>
                  <a:rPr kumimoji="0" lang="ko-KR" altLang="ko-K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Dec</a:t>
                </a:r>
                <a:r>
                  <a:rPr kumimoji="0" lang="ko-KR" altLang="ko-K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2018)</a:t>
                </a:r>
                <a:endParaRPr kumimoji="0" lang="en-US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marR="0" lvl="0" indent="-28575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marR="0" lvl="0" indent="-28575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ko-KR" altLang="ko-KR" sz="1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Indexing</a:t>
                </a:r>
                <a:r>
                  <a:rPr kumimoji="0" lang="ko-KR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</a:t>
                </a:r>
                <a:endParaRPr lang="en-US" altLang="ko-KR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742950" lvl="1" indent="-28575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ko-KR" altLang="ko-KR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Encode</a:t>
                </a:r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ko-KR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all</a:t>
                </a:r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ko-KR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documents</a:t>
                </a:r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ko-KR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using</a:t>
                </a:r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ko-KR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the</a:t>
                </a:r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ko-KR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document</a:t>
                </a:r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ko-KR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encoder</a:t>
                </a:r>
                <a:endParaRPr kumimoji="0" lang="ko-KR" altLang="ko-KR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742950" lvl="1" indent="-28575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ko-KR" altLang="ko-KR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Build</a:t>
                </a:r>
                <a:r>
                  <a:rPr kumimoji="0" lang="ko-KR" altLang="ko-K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kumimoji="0" lang="ko-KR" altLang="ko-KR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a</a:t>
                </a:r>
                <a:r>
                  <a:rPr kumimoji="0" lang="ko-KR" altLang="ko-K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kumimoji="0" lang="ko-KR" altLang="ko-KR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single</a:t>
                </a:r>
                <a:r>
                  <a:rPr kumimoji="0" lang="ko-KR" altLang="ko-K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FAISS </a:t>
                </a:r>
                <a:r>
                  <a:rPr kumimoji="0" lang="ko-KR" altLang="ko-KR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index</a:t>
                </a:r>
                <a:r>
                  <a:rPr kumimoji="0" lang="ko-KR" altLang="ko-K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kumimoji="0" lang="ko-KR" altLang="ko-KR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for</a:t>
                </a:r>
                <a:r>
                  <a:rPr kumimoji="0" lang="ko-KR" altLang="ko-K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kumimoji="0" lang="ko-KR" altLang="ko-KR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Maximum</a:t>
                </a:r>
                <a:r>
                  <a:rPr kumimoji="0" lang="ko-KR" altLang="ko-K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kumimoji="0" lang="ko-KR" altLang="ko-KR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Inner</a:t>
                </a:r>
                <a:r>
                  <a:rPr kumimoji="0" lang="ko-KR" altLang="ko-K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kumimoji="0" lang="ko-KR" altLang="ko-KR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Product</a:t>
                </a:r>
                <a:r>
                  <a:rPr kumimoji="0" lang="ko-KR" altLang="ko-K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kumimoji="0" lang="ko-KR" altLang="ko-KR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Search</a:t>
                </a:r>
                <a:r>
                  <a:rPr kumimoji="0" lang="ko-KR" altLang="ko-K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(MIPS)</a:t>
                </a:r>
                <a:endParaRPr kumimoji="0" lang="en-US" altLang="ko-K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marR="0" lvl="0" indent="-28575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marR="0" lvl="0" indent="-285750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</a:pPr>
                <a:r>
                  <a:rPr kumimoji="0" lang="ko-KR" altLang="ko-KR" sz="1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Training</a:t>
                </a:r>
                <a:r>
                  <a:rPr kumimoji="0" lang="ko-KR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kumimoji="0" lang="ko-KR" altLang="ko-KR" sz="1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Retrieval</a:t>
                </a:r>
                <a:r>
                  <a:rPr kumimoji="0" lang="ko-KR" altLang="ko-K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</a:t>
                </a:r>
                <a:endParaRPr kumimoji="0" lang="ko-KR" altLang="ko-K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742950" lvl="1" indent="-28575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ko-KR" altLang="ko-KR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Retrieve</a:t>
                </a:r>
                <a:r>
                  <a:rPr kumimoji="0" lang="ko-KR" altLang="ko-K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kumimoji="0" lang="ko-KR" altLang="ko-KR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top</a:t>
                </a:r>
                <a:r>
                  <a:rPr kumimoji="0" lang="ko-KR" altLang="ko-K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-</a:t>
                </a:r>
                <a:r>
                  <a:rPr kumimoji="0" lang="en-US" altLang="ko-K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K</a:t>
                </a:r>
                <a:r>
                  <a:rPr kumimoji="0" lang="ko-KR" altLang="ko-K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kumimoji="0" lang="ko-KR" altLang="ko-KR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documents</a:t>
                </a:r>
                <a:r>
                  <a:rPr kumimoji="0" lang="ko-KR" altLang="ko-K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kumimoji="0" lang="ko-KR" altLang="ko-KR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for</a:t>
                </a:r>
                <a:r>
                  <a:rPr kumimoji="0" lang="ko-KR" altLang="ko-K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kumimoji="0" lang="ko-KR" altLang="ko-KR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each</a:t>
                </a:r>
                <a:r>
                  <a:rPr kumimoji="0" lang="ko-KR" altLang="ko-K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kumimoji="0" lang="ko-KR" altLang="ko-KR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query</a:t>
                </a:r>
                <a:r>
                  <a:rPr kumimoji="0" lang="ko-KR" altLang="ko-K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kumimoji="0" lang="ko-KR" altLang="ko-KR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during</a:t>
                </a:r>
                <a:r>
                  <a:rPr kumimoji="0" lang="ko-KR" altLang="ko-K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kumimoji="0" lang="ko-KR" altLang="ko-KR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training</a:t>
                </a:r>
                <a:endParaRPr kumimoji="0" lang="ko-KR" altLang="ko-K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742950" lvl="1" indent="-28575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en-US" altLang="ko-KR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Consider </a:t>
                </a:r>
                <a14:m>
                  <m:oMath xmlns:m="http://schemas.openxmlformats.org/officeDocument/2006/math">
                    <m:r>
                      <a:rPr kumimoji="0" lang="en-US" altLang="ko-KR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𝑘</m:t>
                    </m:r>
                    <m:r>
                      <a:rPr kumimoji="0" lang="en-US" altLang="ko-KR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∈{5,10}</m:t>
                    </m:r>
                  </m:oMath>
                </a14:m>
                <a:endParaRPr kumimoji="0" lang="ko-KR" altLang="ko-K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>
          <p:sp>
            <p:nvSpPr>
              <p:cNvPr id="5" name="Rectangle 3">
                <a:extLst>
                  <a:ext uri="{FF2B5EF4-FFF2-40B4-BE49-F238E27FC236}">
                    <a16:creationId xmlns:a16="http://schemas.microsoft.com/office/drawing/2014/main" id="{E9D4BE7B-27B3-5762-C3EE-A285E9B1CB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flipH="1">
                <a:off x="215516" y="1486114"/>
                <a:ext cx="8712968" cy="2585323"/>
              </a:xfrm>
              <a:prstGeom prst="rect">
                <a:avLst/>
              </a:prstGeom>
              <a:blipFill>
                <a:blip r:embed="rId2"/>
                <a:stretch>
                  <a:fillRect l="-420" t="-943" b="-330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7732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34B18-D2A0-F4A4-E3F2-4661AF80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BEC1D3-19C4-A34D-01AD-1845B35B5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Result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79D32D2-A8EC-BC44-034F-F582B690F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1059582"/>
            <a:ext cx="849630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9373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9F289-C06B-26D8-F24F-40654C62D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74C8D83-7714-A8DF-4E8F-D755D8DB88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Result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C04A49-3BB0-3130-D50E-127A6886F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7083"/>
            <a:ext cx="9144000" cy="270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19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3F42D-26C4-0995-B3FB-7909E9DF7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19D282-217C-71C8-9BF6-91DF696926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Discussion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35CFDB-BC43-AEB4-D104-F2943304E32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7504" y="1050290"/>
            <a:ext cx="892899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Introduced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hybrid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generation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models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combining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parametric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and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non-parametric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memory</a:t>
            </a:r>
            <a:endParaRPr kumimoji="0" lang="en-US" altLang="ko-KR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RAG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achieves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state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-of-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the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art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performance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on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open-domain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QA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Future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direction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joint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pre-training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of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retriever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+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generator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50551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3305D-EFD0-EFF8-780D-B86BAF888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3891BF-21AB-B76C-7DAF-12A06CF38C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Conclusion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00920E-5EBF-9B7F-EF0B-C6A6BD6912F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07504" y="1140590"/>
            <a:ext cx="90010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RAG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reduces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hallucinations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by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grounding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generation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factual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external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knowledge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e.g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Wikipedia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Risks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remain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external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knowledge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sources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can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contain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biases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or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inaccuracies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language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model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RAG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may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still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misused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for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misleading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content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impersonation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or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spam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phishing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In order to mitigate 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these risks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AI systems could be employed to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fight against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misleading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content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and automated spam/phishing.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7782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/>
            <a:r>
              <a:rPr lang="en-US" altLang="ko-KR" dirty="0"/>
              <a:t>Insert the title of </a:t>
            </a:r>
          </a:p>
          <a:p>
            <a:pPr lvl="0"/>
            <a:r>
              <a:rPr lang="en-US" altLang="ko-KR" dirty="0"/>
              <a:t>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61455909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8B2A3"/>
      </a:accent1>
      <a:accent2>
        <a:srgbClr val="A4B4EA"/>
      </a:accent2>
      <a:accent3>
        <a:srgbClr val="98DFBB"/>
      </a:accent3>
      <a:accent4>
        <a:srgbClr val="9AD3E9"/>
      </a:accent4>
      <a:accent5>
        <a:srgbClr val="576868"/>
      </a:accent5>
      <a:accent6>
        <a:srgbClr val="CBCBCB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8B2A3"/>
      </a:accent1>
      <a:accent2>
        <a:srgbClr val="A4B4EA"/>
      </a:accent2>
      <a:accent3>
        <a:srgbClr val="9AD3E9"/>
      </a:accent3>
      <a:accent4>
        <a:srgbClr val="98DFBB"/>
      </a:accent4>
      <a:accent5>
        <a:srgbClr val="CBCBCB"/>
      </a:accent5>
      <a:accent6>
        <a:srgbClr val="576868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9AD3E9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8B2A3"/>
      </a:accent1>
      <a:accent2>
        <a:srgbClr val="A4B4EA"/>
      </a:accent2>
      <a:accent3>
        <a:srgbClr val="9AD3E9"/>
      </a:accent3>
      <a:accent4>
        <a:srgbClr val="98DFBB"/>
      </a:accent4>
      <a:accent5>
        <a:srgbClr val="CBCBCB"/>
      </a:accent5>
      <a:accent6>
        <a:srgbClr val="576868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4644</TotalTime>
  <Words>637</Words>
  <Application>Microsoft Office PowerPoint</Application>
  <PresentationFormat>화면 슬라이드 쇼(16:9)</PresentationFormat>
  <Paragraphs>97</Paragraphs>
  <Slides>13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맑은 고딕</vt:lpstr>
      <vt:lpstr>Arial</vt:lpstr>
      <vt:lpstr>Cambria Math</vt:lpstr>
      <vt:lpstr>Wingdings</vt:lpstr>
      <vt:lpstr>Cover and End Slide Master</vt:lpstr>
      <vt:lpstr>Contents Slide Master</vt:lpstr>
      <vt:lpstr>Section Break Slide Master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이주형</cp:lastModifiedBy>
  <cp:revision>298</cp:revision>
  <dcterms:created xsi:type="dcterms:W3CDTF">2016-12-05T23:26:54Z</dcterms:created>
  <dcterms:modified xsi:type="dcterms:W3CDTF">2026-01-21T13:37:04Z</dcterms:modified>
</cp:coreProperties>
</file>