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1" r:id="rId2"/>
    <p:sldMasterId id="2147483653" r:id="rId3"/>
  </p:sldMasterIdLst>
  <p:notesMasterIdLst>
    <p:notesMasterId r:id="rId20"/>
  </p:notesMasterIdLst>
  <p:sldIdLst>
    <p:sldId id="256" r:id="rId4"/>
    <p:sldId id="261" r:id="rId5"/>
    <p:sldId id="265" r:id="rId6"/>
    <p:sldId id="317" r:id="rId7"/>
    <p:sldId id="303" r:id="rId8"/>
    <p:sldId id="306" r:id="rId9"/>
    <p:sldId id="311" r:id="rId10"/>
    <p:sldId id="309" r:id="rId11"/>
    <p:sldId id="310" r:id="rId12"/>
    <p:sldId id="312" r:id="rId13"/>
    <p:sldId id="313" r:id="rId14"/>
    <p:sldId id="308" r:id="rId15"/>
    <p:sldId id="314" r:id="rId16"/>
    <p:sldId id="315" r:id="rId17"/>
    <p:sldId id="316" r:id="rId18"/>
    <p:sldId id="262" r:id="rId19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7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AD3E9"/>
    <a:srgbClr val="98DFBB"/>
    <a:srgbClr val="F8B2A3"/>
    <a:srgbClr val="A4B4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72" autoAdjust="0"/>
  </p:normalViewPr>
  <p:slideViewPr>
    <p:cSldViewPr>
      <p:cViewPr varScale="1">
        <p:scale>
          <a:sx n="144" d="100"/>
          <a:sy n="144" d="100"/>
        </p:scale>
        <p:origin x="654" y="114"/>
      </p:cViewPr>
      <p:guideLst>
        <p:guide orient="horz" pos="1847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FE4780-4742-4AF7-B9F6-29387D06C872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0E160-F603-41F3-A192-DC95957721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1441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6819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8048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>
                <a:latin typeface="맑은 고딕" panose="020B0503020000020004" pitchFamily="50" charset="-127"/>
                <a:ea typeface="+mn-ea"/>
              </a:rPr>
              <a:t>1. </a:t>
            </a:r>
            <a:r>
              <a:rPr lang="ko-KR" altLang="en-US" sz="1200" dirty="0">
                <a:latin typeface="맑은 고딕" panose="020B0503020000020004" pitchFamily="50" charset="-127"/>
                <a:ea typeface="+mn-ea"/>
              </a:rPr>
              <a:t>학습시킬 때는 </a:t>
            </a:r>
            <a:r>
              <a:rPr lang="en-US" altLang="ko-KR" sz="1200" dirty="0">
                <a:latin typeface="맑은 고딕" panose="020B0503020000020004" pitchFamily="50" charset="-127"/>
                <a:ea typeface="+mn-ea"/>
              </a:rPr>
              <a:t>fp16 </a:t>
            </a:r>
            <a:r>
              <a:rPr lang="ko-KR" altLang="en-US" sz="1200" dirty="0">
                <a:latin typeface="맑은 고딕" panose="020B0503020000020004" pitchFamily="50" charset="-127"/>
                <a:ea typeface="+mn-ea"/>
              </a:rPr>
              <a:t>으로 변환하여 손실 계산</a:t>
            </a:r>
          </a:p>
          <a:p>
            <a:r>
              <a:rPr lang="en-US" altLang="ko-KR" sz="1200" dirty="0">
                <a:latin typeface="맑은 고딕" panose="020B0503020000020004" pitchFamily="50" charset="-127"/>
                <a:ea typeface="+mn-ea"/>
              </a:rPr>
              <a:t>2. </a:t>
            </a:r>
            <a:r>
              <a:rPr lang="ko-KR" altLang="en-US" sz="1200" dirty="0" err="1">
                <a:latin typeface="맑은 고딕" panose="020B0503020000020004" pitchFamily="50" charset="-127"/>
                <a:ea typeface="+mn-ea"/>
              </a:rPr>
              <a:t>그라디언트</a:t>
            </a:r>
            <a:r>
              <a:rPr lang="ko-KR" altLang="en-US" sz="1200" dirty="0">
                <a:latin typeface="맑은 고딕" panose="020B0503020000020004" pitchFamily="50" charset="-127"/>
                <a:ea typeface="+mn-ea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+mn-ea"/>
              </a:rPr>
              <a:t>fp16</a:t>
            </a:r>
            <a:r>
              <a:rPr lang="ko-KR" altLang="en-US" sz="1200" dirty="0">
                <a:latin typeface="맑은 고딕" panose="020B0503020000020004" pitchFamily="50" charset="-127"/>
                <a:ea typeface="+mn-ea"/>
              </a:rPr>
              <a:t>으로 </a:t>
            </a:r>
            <a:r>
              <a:rPr lang="ko-KR" altLang="en-US" sz="1200" dirty="0" err="1">
                <a:latin typeface="맑은 고딕" panose="020B0503020000020004" pitchFamily="50" charset="-127"/>
                <a:ea typeface="+mn-ea"/>
              </a:rPr>
              <a:t>역전파</a:t>
            </a:r>
            <a:endParaRPr lang="ko-KR" altLang="en-US" sz="1200" dirty="0">
              <a:latin typeface="맑은 고딕" panose="020B0503020000020004" pitchFamily="50" charset="-127"/>
              <a:ea typeface="+mn-ea"/>
            </a:endParaRPr>
          </a:p>
          <a:p>
            <a:r>
              <a:rPr lang="en-US" altLang="ko-KR" sz="1200" dirty="0">
                <a:latin typeface="맑은 고딕" panose="020B0503020000020004" pitchFamily="50" charset="-127"/>
                <a:ea typeface="+mn-ea"/>
              </a:rPr>
              <a:t>3. fp32</a:t>
            </a:r>
            <a:r>
              <a:rPr lang="ko-KR" altLang="en-US" sz="1200" dirty="0">
                <a:latin typeface="맑은 고딕" panose="020B0503020000020004" pitchFamily="50" charset="-127"/>
                <a:ea typeface="+mn-ea"/>
              </a:rPr>
              <a:t>로 </a:t>
            </a:r>
            <a:r>
              <a:rPr lang="ko-KR" altLang="en-US" sz="1200" dirty="0" err="1">
                <a:latin typeface="맑은 고딕" panose="020B0503020000020004" pitchFamily="50" charset="-127"/>
                <a:ea typeface="+mn-ea"/>
              </a:rPr>
              <a:t>그라디언트</a:t>
            </a:r>
            <a:r>
              <a:rPr lang="ko-KR" altLang="en-US" sz="1200" dirty="0">
                <a:latin typeface="맑은 고딕" panose="020B0503020000020004" pitchFamily="50" charset="-127"/>
                <a:ea typeface="+mn-ea"/>
              </a:rPr>
              <a:t> 복사</a:t>
            </a:r>
          </a:p>
          <a:p>
            <a:r>
              <a:rPr lang="en-US" altLang="ko-KR" sz="1200" dirty="0">
                <a:latin typeface="맑은 고딕" panose="020B0503020000020004" pitchFamily="50" charset="-127"/>
                <a:ea typeface="+mn-ea"/>
              </a:rPr>
              <a:t>4. fp32 </a:t>
            </a:r>
            <a:r>
              <a:rPr lang="ko-KR" altLang="en-US" sz="1200" dirty="0">
                <a:latin typeface="맑은 고딕" panose="020B0503020000020004" pitchFamily="50" charset="-127"/>
                <a:ea typeface="+mn-ea"/>
              </a:rPr>
              <a:t>마스터 가중치에 업데이트 적용</a:t>
            </a:r>
          </a:p>
          <a:p>
            <a:r>
              <a:rPr lang="en-US" altLang="ko-KR" sz="1200" dirty="0">
                <a:latin typeface="맑은 고딕" panose="020B0503020000020004" pitchFamily="50" charset="-127"/>
                <a:ea typeface="+mn-ea"/>
              </a:rPr>
              <a:t>5. </a:t>
            </a:r>
            <a:r>
              <a:rPr lang="ko-KR" altLang="en-US" sz="1200" dirty="0">
                <a:latin typeface="맑은 고딕" panose="020B0503020000020004" pitchFamily="50" charset="-127"/>
                <a:ea typeface="+mn-ea"/>
              </a:rPr>
              <a:t>최종적으로 학습이 끝나면 </a:t>
            </a:r>
            <a:r>
              <a:rPr lang="en-US" altLang="ko-KR" sz="1200" dirty="0">
                <a:latin typeface="맑은 고딕" panose="020B0503020000020004" pitchFamily="50" charset="-127"/>
                <a:ea typeface="+mn-ea"/>
              </a:rPr>
              <a:t>fp32 </a:t>
            </a:r>
            <a:r>
              <a:rPr lang="ko-KR" altLang="en-US" sz="1200" dirty="0">
                <a:latin typeface="맑은 고딕" panose="020B0503020000020004" pitchFamily="50" charset="-127"/>
                <a:ea typeface="+mn-ea"/>
              </a:rPr>
              <a:t>마스터 가중치를 </a:t>
            </a:r>
            <a:r>
              <a:rPr lang="en-US" altLang="ko-KR" sz="1200" dirty="0">
                <a:latin typeface="맑은 고딕" panose="020B0503020000020004" pitchFamily="50" charset="-127"/>
                <a:ea typeface="+mn-ea"/>
              </a:rPr>
              <a:t>fp16</a:t>
            </a:r>
            <a:r>
              <a:rPr lang="ko-KR" altLang="en-US" sz="1200" dirty="0">
                <a:latin typeface="맑은 고딕" panose="020B0503020000020004" pitchFamily="50" charset="-127"/>
                <a:ea typeface="+mn-ea"/>
              </a:rPr>
              <a:t> 모델로 저장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42692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4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923928" y="2643759"/>
            <a:ext cx="5220072" cy="108012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36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3923928" y="3723878"/>
            <a:ext cx="5219924" cy="504056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A55E6E-2890-481F-AE15-CDC79CD838DA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                      </a:t>
            </a:r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20D7C9D-2950-4F0D-9947-7E4F8FE66CE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490" y="49633"/>
            <a:ext cx="1282640" cy="1282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736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2873932" y="156273"/>
            <a:ext cx="1587121" cy="151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3005459" y="3443641"/>
            <a:ext cx="1587121" cy="151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1967897" y="2192112"/>
            <a:ext cx="1587121" cy="151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110757" y="805096"/>
            <a:ext cx="1587121" cy="151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3934583" y="142673"/>
            <a:ext cx="1587121" cy="151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5618205" y="2384716"/>
            <a:ext cx="1587121" cy="151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5463157" y="736150"/>
            <a:ext cx="1587121" cy="151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4788024" y="3370715"/>
            <a:ext cx="1587121" cy="151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2254580" y="248388"/>
            <a:ext cx="4634840" cy="4646724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lt"/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03848" y="2101602"/>
            <a:ext cx="2736303" cy="57606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3203700" y="2677666"/>
            <a:ext cx="2736303" cy="43204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2860"/>
            <a:ext cx="1587121" cy="151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0352" y="3624792"/>
            <a:ext cx="1407408" cy="1518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2477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A5F54F-2348-4473-82E1-BFE60E049C97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5712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2843808" y="377122"/>
            <a:ext cx="3456384" cy="3465247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796376" y="1959682"/>
              <a:ext cx="1224136" cy="122413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829098" y="3829794"/>
            <a:ext cx="3456384" cy="57606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Welcome!!</a:t>
            </a:r>
          </a:p>
        </p:txBody>
      </p:sp>
      <p:sp>
        <p:nvSpPr>
          <p:cNvPr id="8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828950" y="4443958"/>
            <a:ext cx="3456384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746CEC-C010-40FB-A31C-D4A95DEE5115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2023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한국정보기술학회 추계학술발표대회 자료 </a:t>
            </a:r>
            <a:fld id="{95FBD6DC-B1FE-400A-B8F6-D0681BEBA652}" type="slidenum">
              <a:rPr lang="ko-KR" altLang="en-US" sz="1100" b="1" kern="1200" smtClean="0">
                <a:solidFill>
                  <a:schemeClr val="tx1"/>
                </a:solidFill>
                <a:latin typeface="+mn-lt"/>
                <a:ea typeface="맑은 고딕" panose="020B0503020000020004" pitchFamily="50" charset="-127"/>
                <a:cs typeface="+mn-cs"/>
              </a:rPr>
              <a:pPr marL="0" marR="0" lvl="0" indent="0" algn="just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6203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9DE26D-6639-4546-96A5-E0EE2A312FF3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2023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한국정보기술학회 추계학술발표대회 자료 </a:t>
            </a:r>
            <a:fld id="{95FBD6DC-B1FE-400A-B8F6-D0681BEBA652}" type="slidenum">
              <a:rPr lang="ko-KR" altLang="en-US" sz="1100" b="1" kern="1200" smtClean="0">
                <a:solidFill>
                  <a:schemeClr val="tx1"/>
                </a:solidFill>
                <a:latin typeface="+mn-lt"/>
                <a:ea typeface="맑은 고딕" panose="020B0503020000020004" pitchFamily="50" charset="-127"/>
                <a:cs typeface="+mn-cs"/>
              </a:rPr>
              <a:pPr marL="0" marR="0" lvl="0" indent="0" algn="just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40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749EE9-2723-4B84-AFDB-858BDA36301B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</a:t>
            </a:r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904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863568" y="159982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2842131" y="1597374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4834733" y="1597374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6827011" y="159982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2" name="Block Arc 1"/>
          <p:cNvSpPr/>
          <p:nvPr userDrawn="1"/>
        </p:nvSpPr>
        <p:spPr>
          <a:xfrm>
            <a:off x="683568" y="1419822"/>
            <a:ext cx="1800000" cy="1800000"/>
          </a:xfrm>
          <a:prstGeom prst="blockArc">
            <a:avLst>
              <a:gd name="adj1" fmla="val 10800000"/>
              <a:gd name="adj2" fmla="val 94979"/>
              <a:gd name="adj3" fmla="val 5402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Block Arc 11"/>
          <p:cNvSpPr/>
          <p:nvPr userDrawn="1"/>
        </p:nvSpPr>
        <p:spPr>
          <a:xfrm>
            <a:off x="2671382" y="1419822"/>
            <a:ext cx="1800000" cy="1800000"/>
          </a:xfrm>
          <a:prstGeom prst="blockArc">
            <a:avLst>
              <a:gd name="adj1" fmla="val 10800000"/>
              <a:gd name="adj2" fmla="val 94979"/>
              <a:gd name="adj3" fmla="val 5402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Block Arc 12"/>
          <p:cNvSpPr/>
          <p:nvPr userDrawn="1"/>
        </p:nvSpPr>
        <p:spPr>
          <a:xfrm>
            <a:off x="4659196" y="1419822"/>
            <a:ext cx="1800000" cy="1800000"/>
          </a:xfrm>
          <a:prstGeom prst="blockArc">
            <a:avLst>
              <a:gd name="adj1" fmla="val 10800000"/>
              <a:gd name="adj2" fmla="val 94979"/>
              <a:gd name="adj3" fmla="val 5402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4" name="Block Arc 13"/>
          <p:cNvSpPr/>
          <p:nvPr userDrawn="1"/>
        </p:nvSpPr>
        <p:spPr>
          <a:xfrm>
            <a:off x="6647011" y="1419822"/>
            <a:ext cx="1800000" cy="1800000"/>
          </a:xfrm>
          <a:prstGeom prst="blockArc">
            <a:avLst>
              <a:gd name="adj1" fmla="val 10800000"/>
              <a:gd name="adj2" fmla="val 94979"/>
              <a:gd name="adj3" fmla="val 5402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EDBECCA6-8618-46C3-A8D4-3B6399CCEF8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1D40A599-6D66-4DC9-82BB-52C171B56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133540-D188-4ED2-842B-34BCBF6015C8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2023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한국정보기술학회 추계학술발표대회 자료 </a:t>
            </a:r>
            <a:fld id="{95FBD6DC-B1FE-400A-B8F6-D0681BEBA652}" type="slidenum">
              <a:rPr lang="ko-KR" altLang="en-US" sz="1100" b="1" kern="1200" smtClean="0">
                <a:solidFill>
                  <a:schemeClr val="tx1"/>
                </a:solidFill>
                <a:latin typeface="+mn-lt"/>
                <a:ea typeface="맑은 고딕" panose="020B0503020000020004" pitchFamily="50" charset="-127"/>
                <a:cs typeface="+mn-cs"/>
              </a:rPr>
              <a:pPr marL="0" marR="0" lvl="0" indent="0" algn="just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499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grpSp>
        <p:nvGrpSpPr>
          <p:cNvPr id="5" name="Group 4"/>
          <p:cNvGrpSpPr/>
          <p:nvPr userDrawn="1"/>
        </p:nvGrpSpPr>
        <p:grpSpPr>
          <a:xfrm>
            <a:off x="354008" y="1131589"/>
            <a:ext cx="2849840" cy="3649171"/>
            <a:chOff x="354008" y="1131589"/>
            <a:chExt cx="2849840" cy="3649171"/>
          </a:xfrm>
        </p:grpSpPr>
        <p:sp>
          <p:nvSpPr>
            <p:cNvPr id="6" name="Rounded Rectangle 5"/>
            <p:cNvSpPr/>
            <p:nvPr/>
          </p:nvSpPr>
          <p:spPr>
            <a:xfrm>
              <a:off x="354008" y="1131589"/>
              <a:ext cx="2849840" cy="3649171"/>
            </a:xfrm>
            <a:prstGeom prst="roundRect">
              <a:avLst>
                <a:gd name="adj" fmla="val 3968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31932" y="1347500"/>
              <a:ext cx="108520" cy="324047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12" name="Half Frame 11"/>
            <p:cNvSpPr/>
            <p:nvPr/>
          </p:nvSpPr>
          <p:spPr>
            <a:xfrm rot="5400000">
              <a:off x="2592642" y="1238201"/>
              <a:ext cx="502331" cy="502331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1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32AA192-7133-43FD-AFD7-CCFE80BE754D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2023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한국정보기술학회 추계학술발표대회 자료 </a:t>
            </a:r>
            <a:fld id="{95FBD6DC-B1FE-400A-B8F6-D0681BEBA652}" type="slidenum">
              <a:rPr lang="ko-KR" altLang="en-US" sz="1100" b="1" kern="1200" smtClean="0">
                <a:solidFill>
                  <a:schemeClr val="tx1"/>
                </a:solidFill>
                <a:latin typeface="+mn-lt"/>
                <a:ea typeface="맑은 고딕" panose="020B0503020000020004" pitchFamily="50" charset="-127"/>
                <a:cs typeface="+mn-cs"/>
              </a:rPr>
              <a:pPr marL="0" marR="0" lvl="0" indent="0" algn="just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8182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2771800" y="1404764"/>
            <a:ext cx="6372200" cy="302433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6C3AF05-0B8F-485E-983F-1B40340199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D183D1CC-DF98-45E3-B7CE-601603E40D0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B75FB7-0578-4803-9742-A5F556AD9F01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2023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한국정보기술학회 추계학술발표대회 자료 </a:t>
            </a:r>
            <a:fld id="{95FBD6DC-B1FE-400A-B8F6-D0681BEBA652}" type="slidenum">
              <a:rPr lang="ko-KR" altLang="en-US" sz="1100" b="1" kern="1200" smtClean="0">
                <a:solidFill>
                  <a:schemeClr val="tx1"/>
                </a:solidFill>
                <a:latin typeface="+mn-lt"/>
                <a:ea typeface="맑은 고딕" panose="020B0503020000020004" pitchFamily="50" charset="-127"/>
                <a:cs typeface="+mn-cs"/>
              </a:rPr>
              <a:pPr marL="0" marR="0" lvl="0" indent="0" algn="just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9319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3059832" cy="21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6084000" y="2947500"/>
            <a:ext cx="3060000" cy="21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039255-9B8F-4462-A7FE-3E72045BAB9D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2023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한국정보기술학회 추계학술발표대회 자료 </a:t>
            </a:r>
            <a:fld id="{95FBD6DC-B1FE-400A-B8F6-D0681BEBA652}" type="slidenum">
              <a:rPr lang="ko-KR" altLang="en-US" sz="1100" b="1" kern="1200" smtClean="0">
                <a:solidFill>
                  <a:schemeClr val="tx1"/>
                </a:solidFill>
                <a:latin typeface="+mn-lt"/>
                <a:ea typeface="맑은 고딕" panose="020B0503020000020004" pitchFamily="50" charset="-127"/>
                <a:cs typeface="+mn-cs"/>
              </a:rPr>
              <a:pPr marL="0" marR="0" lvl="0" indent="0" algn="just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4479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528392" y="0"/>
            <a:ext cx="2123728" cy="32198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7020272" y="1923678"/>
            <a:ext cx="2123728" cy="32198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AAE106-F942-47F1-B65C-59B172E88EAA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2023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한국정보기술학회 추계학술발표대회 자료 </a:t>
            </a:r>
            <a:fld id="{95FBD6DC-B1FE-400A-B8F6-D0681BEBA652}" type="slidenum">
              <a:rPr lang="ko-KR" altLang="en-US" sz="1100" b="1" kern="1200" smtClean="0">
                <a:solidFill>
                  <a:schemeClr val="tx1"/>
                </a:solidFill>
                <a:latin typeface="+mn-lt"/>
                <a:ea typeface="맑은 고딕" panose="020B0503020000020004" pitchFamily="50" charset="-127"/>
                <a:cs typeface="+mn-cs"/>
              </a:rPr>
              <a:pPr marL="0" marR="0" lvl="0" indent="0" algn="just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251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717858" y="1275606"/>
            <a:ext cx="2448545" cy="202405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3339542" y="1275606"/>
            <a:ext cx="2448273" cy="202405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4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960954" y="1275606"/>
            <a:ext cx="2448273" cy="202405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DDA4CE02-F7F3-4BCD-B8DB-4DFD03965E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39A54B34-6F96-4E3E-B72E-E680E3CE27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777962-8117-49AD-9324-1D8E477D02BB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2023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한국정보기술학회 추계학술발표대회 자료 </a:t>
            </a:r>
            <a:fld id="{95FBD6DC-B1FE-400A-B8F6-D0681BEBA652}" type="slidenum">
              <a:rPr lang="ko-KR" altLang="en-US" sz="1100" b="1" kern="1200" smtClean="0">
                <a:solidFill>
                  <a:schemeClr val="tx1"/>
                </a:solidFill>
                <a:latin typeface="+mn-lt"/>
                <a:ea typeface="맑은 고딕" panose="020B0503020000020004" pitchFamily="50" charset="-127"/>
                <a:cs typeface="+mn-cs"/>
              </a:rPr>
              <a:pPr marL="0" marR="0" lvl="0" indent="0" algn="just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839971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 descr="D:\Fullppt\005-PNG이미지\모니터.p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2286" y="1275606"/>
            <a:ext cx="2923753" cy="2518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3" descr="D:\Fullppt\005-PNG이미지\모니터.p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2646" y="1275606"/>
            <a:ext cx="2923753" cy="2518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582656" y="1374406"/>
            <a:ext cx="2700000" cy="15848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4820964" y="1374406"/>
            <a:ext cx="2736000" cy="15848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2F3CBFE9-6225-4EAB-9415-3558F6BE9A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E9189EF-3C10-45A2-8749-4187192ACE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85AF8D-9837-4185-AA5F-0E08674FE199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2023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한국정보기술학회 추계학술발표대회 자료 </a:t>
            </a:r>
            <a:fld id="{95FBD6DC-B1FE-400A-B8F6-D0681BEBA652}" type="slidenum">
              <a:rPr lang="ko-KR" altLang="en-US" sz="1100" b="1" kern="1200" smtClean="0">
                <a:solidFill>
                  <a:schemeClr val="tx1"/>
                </a:solidFill>
                <a:latin typeface="+mn-lt"/>
                <a:ea typeface="맑은 고딕" panose="020B0503020000020004" pitchFamily="50" charset="-127"/>
                <a:cs typeface="+mn-cs"/>
              </a:rPr>
              <a:pPr marL="0" marR="0" lvl="0" indent="0" algn="just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08940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nut 3"/>
          <p:cNvSpPr/>
          <p:nvPr userDrawn="1"/>
        </p:nvSpPr>
        <p:spPr>
          <a:xfrm>
            <a:off x="2847111" y="1179745"/>
            <a:ext cx="3401564" cy="3401564"/>
          </a:xfrm>
          <a:prstGeom prst="donut">
            <a:avLst>
              <a:gd name="adj" fmla="val 1353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" name="Picture 2" descr="D:\Fullppt\PNG이미지\핸드폰2.p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5225" y="1079005"/>
            <a:ext cx="3373328" cy="4085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566328" y="1217153"/>
            <a:ext cx="1945465" cy="30051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B4F25E9-AA8C-4BD3-BF1F-56D20DF8DD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40BDE80-4E1C-47DE-8168-381888FDC3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E8A3CB-0AB4-417C-9F8E-176DF4D3C840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2023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한국정보기술학회 추계학술발표대회 자료 </a:t>
            </a:r>
            <a:fld id="{95FBD6DC-B1FE-400A-B8F6-D0681BEBA652}" type="slidenum">
              <a:rPr lang="ko-KR" altLang="en-US" sz="1100" b="1" kern="1200" smtClean="0">
                <a:solidFill>
                  <a:schemeClr val="tx1"/>
                </a:solidFill>
                <a:latin typeface="+mn-lt"/>
                <a:ea typeface="맑은 고딕" panose="020B0503020000020004" pitchFamily="50" charset="-127"/>
                <a:cs typeface="+mn-cs"/>
              </a:rPr>
              <a:pPr marL="0" marR="0" lvl="0" indent="0" algn="just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92049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3800" y="2230378"/>
            <a:ext cx="4930200" cy="47357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SECTION BREAK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13800" y="2703954"/>
            <a:ext cx="4930200" cy="28803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pic>
        <p:nvPicPr>
          <p:cNvPr id="5" name="Picture 2" descr="E:\002-KIMS BUSINESS\007-02-Googleslidesppt\02-GSppt-Contents-Kim\20170215\03-abs\item01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39" y="3651870"/>
            <a:ext cx="1013895" cy="101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E:\002-KIMS BUSINESS\007-02-Googleslidesppt\02-GSppt-Contents-Kim\20170215\03-abs\item01-png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936" y="950740"/>
            <a:ext cx="648072" cy="649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E:\002-KIMS BUSINESS\007-02-Googleslidesppt\02-GSppt-Contents-Kim\20170215\03-abs\item01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419818"/>
            <a:ext cx="442142" cy="443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E:\002-KIMS BUSINESS\007-02-Googleslidesppt\02-GSppt-Contents-Kim\20170215\03-abs\item01-png.png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392" y="1779200"/>
            <a:ext cx="360040" cy="360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/>
          <p:cNvGrpSpPr/>
          <p:nvPr userDrawn="1"/>
        </p:nvGrpSpPr>
        <p:grpSpPr>
          <a:xfrm>
            <a:off x="1115616" y="1275607"/>
            <a:ext cx="2585656" cy="2592286"/>
            <a:chOff x="1115616" y="1275607"/>
            <a:chExt cx="2585656" cy="2592286"/>
          </a:xfrm>
        </p:grpSpPr>
        <p:pic>
          <p:nvPicPr>
            <p:cNvPr id="1026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Oval 1"/>
            <p:cNvSpPr/>
            <p:nvPr userDrawn="1"/>
          </p:nvSpPr>
          <p:spPr>
            <a:xfrm>
              <a:off x="1796376" y="1959682"/>
              <a:ext cx="1224136" cy="122413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27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8344" y="3578808"/>
            <a:ext cx="1475656" cy="1592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8226854" y="-51527"/>
            <a:ext cx="879830" cy="949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4B3F65-D174-473A-B9A3-7D405B29D5AA}"/>
              </a:ext>
            </a:extLst>
          </p:cNvPr>
          <p:cNvSpPr txBox="1"/>
          <p:nvPr userDrawn="1"/>
        </p:nvSpPr>
        <p:spPr>
          <a:xfrm>
            <a:off x="-35240" y="4876006"/>
            <a:ext cx="9144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Intelligent Image Analysis Lab                                                                                                       </a:t>
            </a:r>
            <a:r>
              <a:rPr lang="en-US" altLang="ko-KR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2023 </a:t>
            </a:r>
            <a:r>
              <a:rPr lang="ko-KR" altLang="en-US" sz="1100" b="1" dirty="0">
                <a:solidFill>
                  <a:schemeClr val="bg1">
                    <a:lumMod val="65000"/>
                  </a:schemeClr>
                </a:solidFill>
                <a:ea typeface="맑은 고딕" panose="020B0503020000020004" pitchFamily="50" charset="-127"/>
              </a:rPr>
              <a:t>한국정보기술학회 추계학술발표대회 자료 </a:t>
            </a:r>
            <a:fld id="{95FBD6DC-B1FE-400A-B8F6-D0681BEBA652}" type="slidenum">
              <a:rPr lang="ko-KR" altLang="en-US" sz="1100" b="1" kern="1200" smtClean="0">
                <a:solidFill>
                  <a:schemeClr val="tx1"/>
                </a:solidFill>
                <a:latin typeface="+mn-lt"/>
                <a:ea typeface="맑은 고딕" panose="020B0503020000020004" pitchFamily="50" charset="-127"/>
                <a:cs typeface="+mn-cs"/>
              </a:rPr>
              <a:pPr marL="0" marR="0" lvl="0" indent="0" algn="just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1100" b="1" kern="1200" dirty="0">
              <a:solidFill>
                <a:schemeClr val="tx1"/>
              </a:solidFill>
              <a:latin typeface="+mn-lt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8235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683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7555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2" r:id="rId3"/>
    <p:sldLayoutId id="2147483652" r:id="rId4"/>
    <p:sldLayoutId id="2147483661" r:id="rId5"/>
    <p:sldLayoutId id="2147483656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471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gi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3923928" y="2427734"/>
            <a:ext cx="5220072" cy="1296145"/>
          </a:xfrm>
        </p:spPr>
        <p:txBody>
          <a:bodyPr/>
          <a:lstStyle/>
          <a:p>
            <a:pPr lvl="0"/>
            <a:r>
              <a:rPr lang="en-US" altLang="ko-KR" sz="2000" dirty="0"/>
              <a:t>Retrieval-Augmented Generation for Knowledge-Intensive NLP Tasks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2026.01.19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Ju </a:t>
            </a:r>
            <a:r>
              <a:rPr lang="en-US" altLang="ko-KR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hyung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Lee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50519" y="2571750"/>
            <a:ext cx="129393" cy="1607036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1841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 txBox="1">
            <a:spLocks/>
          </p:cNvSpPr>
          <p:nvPr/>
        </p:nvSpPr>
        <p:spPr>
          <a:xfrm>
            <a:off x="0" y="267494"/>
            <a:ext cx="9144000" cy="576064"/>
          </a:xfrm>
          <a:prstGeom prst="rect">
            <a:avLst/>
          </a:prstGeom>
        </p:spPr>
        <p:txBody>
          <a:bodyPr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rPr>
              <a:t>Contents</a:t>
            </a:r>
          </a:p>
        </p:txBody>
      </p:sp>
      <p:grpSp>
        <p:nvGrpSpPr>
          <p:cNvPr id="9" name="Group 3">
            <a:extLst>
              <a:ext uri="{FF2B5EF4-FFF2-40B4-BE49-F238E27FC236}">
                <a16:creationId xmlns:a16="http://schemas.microsoft.com/office/drawing/2014/main" id="{3C442904-EE3B-E5EF-911B-91AA5F286CC0}"/>
              </a:ext>
            </a:extLst>
          </p:cNvPr>
          <p:cNvGrpSpPr/>
          <p:nvPr/>
        </p:nvGrpSpPr>
        <p:grpSpPr>
          <a:xfrm>
            <a:off x="2267744" y="1059582"/>
            <a:ext cx="6552728" cy="914400"/>
            <a:chOff x="1151472" y="3187501"/>
            <a:chExt cx="6552728" cy="914400"/>
          </a:xfrm>
        </p:grpSpPr>
        <p:sp>
          <p:nvSpPr>
            <p:cNvPr id="10" name="Pentagon 4">
              <a:extLst>
                <a:ext uri="{FF2B5EF4-FFF2-40B4-BE49-F238E27FC236}">
                  <a16:creationId xmlns:a16="http://schemas.microsoft.com/office/drawing/2014/main" id="{C8CEFB58-812F-8091-CC14-0F285BBAF2D0}"/>
                </a:ext>
              </a:extLst>
            </p:cNvPr>
            <p:cNvSpPr/>
            <p:nvPr/>
          </p:nvSpPr>
          <p:spPr>
            <a:xfrm>
              <a:off x="1633824" y="3347030"/>
              <a:ext cx="6070376" cy="720000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Pentagon 5">
              <a:extLst>
                <a:ext uri="{FF2B5EF4-FFF2-40B4-BE49-F238E27FC236}">
                  <a16:creationId xmlns:a16="http://schemas.microsoft.com/office/drawing/2014/main" id="{C2950C05-9941-2F5F-6CA2-C52968AD93A6}"/>
                </a:ext>
              </a:extLst>
            </p:cNvPr>
            <p:cNvSpPr/>
            <p:nvPr/>
          </p:nvSpPr>
          <p:spPr>
            <a:xfrm>
              <a:off x="1633824" y="3284701"/>
              <a:ext cx="5914970" cy="720000"/>
            </a:xfrm>
            <a:prstGeom prst="homePlate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1" name="Diamond 6">
              <a:extLst>
                <a:ext uri="{FF2B5EF4-FFF2-40B4-BE49-F238E27FC236}">
                  <a16:creationId xmlns:a16="http://schemas.microsoft.com/office/drawing/2014/main" id="{D173F3D3-B3B7-BECE-B508-1448865CE186}"/>
                </a:ext>
              </a:extLst>
            </p:cNvPr>
            <p:cNvSpPr/>
            <p:nvPr/>
          </p:nvSpPr>
          <p:spPr>
            <a:xfrm>
              <a:off x="1151472" y="3187501"/>
              <a:ext cx="914400" cy="91440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sp>
        <p:nvSpPr>
          <p:cNvPr id="22" name="직사각형 39">
            <a:extLst>
              <a:ext uri="{FF2B5EF4-FFF2-40B4-BE49-F238E27FC236}">
                <a16:creationId xmlns:a16="http://schemas.microsoft.com/office/drawing/2014/main" id="{66E97B17-3382-ED5B-BEB2-BA36DEEBBC36}"/>
              </a:ext>
            </a:extLst>
          </p:cNvPr>
          <p:cNvSpPr/>
          <p:nvPr/>
        </p:nvSpPr>
        <p:spPr>
          <a:xfrm>
            <a:off x="2509438" y="1262927"/>
            <a:ext cx="403184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ko-KR" sz="2800" b="1" dirty="0">
                <a:solidFill>
                  <a:schemeClr val="bg1"/>
                </a:solidFill>
                <a:cs typeface="Arial" pitchFamily="34" charset="0"/>
              </a:rPr>
              <a:t>1 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grpSp>
        <p:nvGrpSpPr>
          <p:cNvPr id="23" name="Group 8">
            <a:extLst>
              <a:ext uri="{FF2B5EF4-FFF2-40B4-BE49-F238E27FC236}">
                <a16:creationId xmlns:a16="http://schemas.microsoft.com/office/drawing/2014/main" id="{F1D60D23-5B77-96A6-8DA6-D2761AAECA14}"/>
              </a:ext>
            </a:extLst>
          </p:cNvPr>
          <p:cNvGrpSpPr/>
          <p:nvPr/>
        </p:nvGrpSpPr>
        <p:grpSpPr>
          <a:xfrm>
            <a:off x="3275856" y="1283794"/>
            <a:ext cx="4859633" cy="502103"/>
            <a:chOff x="2196254" y="1825285"/>
            <a:chExt cx="4680002" cy="502103"/>
          </a:xfrm>
        </p:grpSpPr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783590D5-7130-21F9-01C8-1EB536E25F2C}"/>
                </a:ext>
              </a:extLst>
            </p:cNvPr>
            <p:cNvSpPr txBox="1"/>
            <p:nvPr/>
          </p:nvSpPr>
          <p:spPr bwMode="auto">
            <a:xfrm>
              <a:off x="2196254" y="1825285"/>
              <a:ext cx="4576856" cy="461665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en-US" altLang="ko-K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Introduction</a:t>
              </a:r>
            </a:p>
          </p:txBody>
        </p:sp>
        <p:sp>
          <p:nvSpPr>
            <p:cNvPr id="27" name="TextBox 12">
              <a:extLst>
                <a:ext uri="{FF2B5EF4-FFF2-40B4-BE49-F238E27FC236}">
                  <a16:creationId xmlns:a16="http://schemas.microsoft.com/office/drawing/2014/main" id="{078856E9-62A9-1FBD-247A-FEAE021EFD92}"/>
                </a:ext>
              </a:extLst>
            </p:cNvPr>
            <p:cNvSpPr txBox="1"/>
            <p:nvPr/>
          </p:nvSpPr>
          <p:spPr bwMode="auto">
            <a:xfrm>
              <a:off x="2299400" y="2050389"/>
              <a:ext cx="4576856" cy="276999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9" name="Group 11">
            <a:extLst>
              <a:ext uri="{FF2B5EF4-FFF2-40B4-BE49-F238E27FC236}">
                <a16:creationId xmlns:a16="http://schemas.microsoft.com/office/drawing/2014/main" id="{6FC63088-AEB3-C45B-2A87-802E6E19180D}"/>
              </a:ext>
            </a:extLst>
          </p:cNvPr>
          <p:cNvGrpSpPr/>
          <p:nvPr/>
        </p:nvGrpSpPr>
        <p:grpSpPr>
          <a:xfrm>
            <a:off x="2267744" y="1969713"/>
            <a:ext cx="6552728" cy="914400"/>
            <a:chOff x="1151472" y="3187501"/>
            <a:chExt cx="6552728" cy="914400"/>
          </a:xfrm>
        </p:grpSpPr>
        <p:sp>
          <p:nvSpPr>
            <p:cNvPr id="31" name="Pentagon 12">
              <a:extLst>
                <a:ext uri="{FF2B5EF4-FFF2-40B4-BE49-F238E27FC236}">
                  <a16:creationId xmlns:a16="http://schemas.microsoft.com/office/drawing/2014/main" id="{043F68B9-ECDB-D8F2-47ED-904611DCA4CB}"/>
                </a:ext>
              </a:extLst>
            </p:cNvPr>
            <p:cNvSpPr/>
            <p:nvPr/>
          </p:nvSpPr>
          <p:spPr>
            <a:xfrm>
              <a:off x="1633824" y="3347030"/>
              <a:ext cx="6070376" cy="720000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3" name="Pentagon 13">
              <a:extLst>
                <a:ext uri="{FF2B5EF4-FFF2-40B4-BE49-F238E27FC236}">
                  <a16:creationId xmlns:a16="http://schemas.microsoft.com/office/drawing/2014/main" id="{8691DD76-BCAC-A73E-EBDA-A2F9A6355911}"/>
                </a:ext>
              </a:extLst>
            </p:cNvPr>
            <p:cNvSpPr/>
            <p:nvPr/>
          </p:nvSpPr>
          <p:spPr>
            <a:xfrm>
              <a:off x="1633824" y="3284701"/>
              <a:ext cx="5914970" cy="720000"/>
            </a:xfrm>
            <a:prstGeom prst="homePlate">
              <a:avLst/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4" name="Diamond 14">
              <a:extLst>
                <a:ext uri="{FF2B5EF4-FFF2-40B4-BE49-F238E27FC236}">
                  <a16:creationId xmlns:a16="http://schemas.microsoft.com/office/drawing/2014/main" id="{A4181031-3E75-0E24-8F74-9B7803705E1F}"/>
                </a:ext>
              </a:extLst>
            </p:cNvPr>
            <p:cNvSpPr/>
            <p:nvPr/>
          </p:nvSpPr>
          <p:spPr>
            <a:xfrm>
              <a:off x="1151472" y="3187501"/>
              <a:ext cx="914400" cy="914400"/>
            </a:xfrm>
            <a:prstGeom prst="diamond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5" name="Group 15">
            <a:extLst>
              <a:ext uri="{FF2B5EF4-FFF2-40B4-BE49-F238E27FC236}">
                <a16:creationId xmlns:a16="http://schemas.microsoft.com/office/drawing/2014/main" id="{BBA61CB4-F0D3-7A1E-56A6-E1514FF70095}"/>
              </a:ext>
            </a:extLst>
          </p:cNvPr>
          <p:cNvGrpSpPr/>
          <p:nvPr/>
        </p:nvGrpSpPr>
        <p:grpSpPr>
          <a:xfrm>
            <a:off x="2261732" y="2905636"/>
            <a:ext cx="6552728" cy="914400"/>
            <a:chOff x="1151472" y="3187501"/>
            <a:chExt cx="6552728" cy="914400"/>
          </a:xfrm>
        </p:grpSpPr>
        <p:sp>
          <p:nvSpPr>
            <p:cNvPr id="36" name="Pentagon 16">
              <a:extLst>
                <a:ext uri="{FF2B5EF4-FFF2-40B4-BE49-F238E27FC236}">
                  <a16:creationId xmlns:a16="http://schemas.microsoft.com/office/drawing/2014/main" id="{33CFC4FF-26E0-DD0A-5F99-D386FFCD4A79}"/>
                </a:ext>
              </a:extLst>
            </p:cNvPr>
            <p:cNvSpPr/>
            <p:nvPr/>
          </p:nvSpPr>
          <p:spPr>
            <a:xfrm>
              <a:off x="1633824" y="3347030"/>
              <a:ext cx="6070376" cy="720000"/>
            </a:xfrm>
            <a:prstGeom prst="homePlat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7" name="Pentagon 17">
              <a:extLst>
                <a:ext uri="{FF2B5EF4-FFF2-40B4-BE49-F238E27FC236}">
                  <a16:creationId xmlns:a16="http://schemas.microsoft.com/office/drawing/2014/main" id="{797CAC3B-356C-5029-84BF-856F7F9F99B9}"/>
                </a:ext>
              </a:extLst>
            </p:cNvPr>
            <p:cNvSpPr/>
            <p:nvPr/>
          </p:nvSpPr>
          <p:spPr>
            <a:xfrm>
              <a:off x="1633824" y="3284701"/>
              <a:ext cx="5914970" cy="720000"/>
            </a:xfrm>
            <a:prstGeom prst="homePlate">
              <a:avLst/>
            </a:prstGeom>
            <a:solidFill>
              <a:schemeClr val="bg1"/>
            </a:solidFill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8" name="Diamond 18">
              <a:extLst>
                <a:ext uri="{FF2B5EF4-FFF2-40B4-BE49-F238E27FC236}">
                  <a16:creationId xmlns:a16="http://schemas.microsoft.com/office/drawing/2014/main" id="{3D7190C2-9C49-3C5D-5917-8F8ACFCAF970}"/>
                </a:ext>
              </a:extLst>
            </p:cNvPr>
            <p:cNvSpPr/>
            <p:nvPr/>
          </p:nvSpPr>
          <p:spPr>
            <a:xfrm>
              <a:off x="1151472" y="3187501"/>
              <a:ext cx="914400" cy="914400"/>
            </a:xfrm>
            <a:prstGeom prst="diamond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9" name="Group 19">
            <a:extLst>
              <a:ext uri="{FF2B5EF4-FFF2-40B4-BE49-F238E27FC236}">
                <a16:creationId xmlns:a16="http://schemas.microsoft.com/office/drawing/2014/main" id="{52CF69C5-96AE-749D-886A-A4F38549A292}"/>
              </a:ext>
            </a:extLst>
          </p:cNvPr>
          <p:cNvGrpSpPr/>
          <p:nvPr/>
        </p:nvGrpSpPr>
        <p:grpSpPr>
          <a:xfrm>
            <a:off x="2258726" y="3828663"/>
            <a:ext cx="6552728" cy="914400"/>
            <a:chOff x="1151472" y="3187501"/>
            <a:chExt cx="6552728" cy="914400"/>
          </a:xfrm>
        </p:grpSpPr>
        <p:sp>
          <p:nvSpPr>
            <p:cNvPr id="40" name="Pentagon 20">
              <a:extLst>
                <a:ext uri="{FF2B5EF4-FFF2-40B4-BE49-F238E27FC236}">
                  <a16:creationId xmlns:a16="http://schemas.microsoft.com/office/drawing/2014/main" id="{A9E87487-02A8-2DA8-3381-71EE75FB856C}"/>
                </a:ext>
              </a:extLst>
            </p:cNvPr>
            <p:cNvSpPr/>
            <p:nvPr/>
          </p:nvSpPr>
          <p:spPr>
            <a:xfrm>
              <a:off x="1633824" y="3347030"/>
              <a:ext cx="6070376" cy="720000"/>
            </a:xfrm>
            <a:prstGeom prst="homePlat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1" name="Pentagon 21">
              <a:extLst>
                <a:ext uri="{FF2B5EF4-FFF2-40B4-BE49-F238E27FC236}">
                  <a16:creationId xmlns:a16="http://schemas.microsoft.com/office/drawing/2014/main" id="{D5A0213C-C41E-13B9-F7B5-E7BA63C9A194}"/>
                </a:ext>
              </a:extLst>
            </p:cNvPr>
            <p:cNvSpPr/>
            <p:nvPr/>
          </p:nvSpPr>
          <p:spPr>
            <a:xfrm>
              <a:off x="1633824" y="3284701"/>
              <a:ext cx="5914970" cy="720000"/>
            </a:xfrm>
            <a:prstGeom prst="homePlate">
              <a:avLst/>
            </a:prstGeom>
            <a:solidFill>
              <a:schemeClr val="bg1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2" name="Diamond 22">
              <a:extLst>
                <a:ext uri="{FF2B5EF4-FFF2-40B4-BE49-F238E27FC236}">
                  <a16:creationId xmlns:a16="http://schemas.microsoft.com/office/drawing/2014/main" id="{37974A22-9BFA-427F-2BA6-DF60EFC6EA2A}"/>
                </a:ext>
              </a:extLst>
            </p:cNvPr>
            <p:cNvSpPr/>
            <p:nvPr/>
          </p:nvSpPr>
          <p:spPr>
            <a:xfrm>
              <a:off x="1151472" y="3187501"/>
              <a:ext cx="914400" cy="914400"/>
            </a:xfrm>
            <a:prstGeom prst="diamond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43" name="직사각형 39">
            <a:extLst>
              <a:ext uri="{FF2B5EF4-FFF2-40B4-BE49-F238E27FC236}">
                <a16:creationId xmlns:a16="http://schemas.microsoft.com/office/drawing/2014/main" id="{E7A80F1E-D13E-8C69-C86A-BAB8C88A3662}"/>
              </a:ext>
            </a:extLst>
          </p:cNvPr>
          <p:cNvSpPr/>
          <p:nvPr/>
        </p:nvSpPr>
        <p:spPr>
          <a:xfrm>
            <a:off x="2509438" y="2187449"/>
            <a:ext cx="403184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ko-KR" sz="2800" b="1" dirty="0">
                <a:solidFill>
                  <a:schemeClr val="bg1"/>
                </a:solidFill>
                <a:cs typeface="Arial" pitchFamily="34" charset="0"/>
              </a:rPr>
              <a:t>2 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45" name="TextBox 10">
            <a:extLst>
              <a:ext uri="{FF2B5EF4-FFF2-40B4-BE49-F238E27FC236}">
                <a16:creationId xmlns:a16="http://schemas.microsoft.com/office/drawing/2014/main" id="{042A88E5-4517-E3B0-2264-35B37BDD0585}"/>
              </a:ext>
            </a:extLst>
          </p:cNvPr>
          <p:cNvSpPr txBox="1"/>
          <p:nvPr/>
        </p:nvSpPr>
        <p:spPr bwMode="auto">
          <a:xfrm>
            <a:off x="3275856" y="2196190"/>
            <a:ext cx="4752528" cy="46166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Method</a:t>
            </a:r>
            <a:endParaRPr lang="en-US" altLang="ko-KR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47" name="직사각형 39">
            <a:extLst>
              <a:ext uri="{FF2B5EF4-FFF2-40B4-BE49-F238E27FC236}">
                <a16:creationId xmlns:a16="http://schemas.microsoft.com/office/drawing/2014/main" id="{B2A3CA27-EA3C-D286-E933-3D2672BAF3C0}"/>
              </a:ext>
            </a:extLst>
          </p:cNvPr>
          <p:cNvSpPr/>
          <p:nvPr/>
        </p:nvSpPr>
        <p:spPr>
          <a:xfrm>
            <a:off x="2509438" y="3111971"/>
            <a:ext cx="403184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ko-KR" sz="2800" b="1" dirty="0">
                <a:solidFill>
                  <a:schemeClr val="bg1"/>
                </a:solidFill>
                <a:cs typeface="Arial" pitchFamily="34" charset="0"/>
              </a:rPr>
              <a:t>3 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49" name="TextBox 10">
            <a:extLst>
              <a:ext uri="{FF2B5EF4-FFF2-40B4-BE49-F238E27FC236}">
                <a16:creationId xmlns:a16="http://schemas.microsoft.com/office/drawing/2014/main" id="{9F3FEC2E-7450-2F40-2B51-25A3D05F8A9E}"/>
              </a:ext>
            </a:extLst>
          </p:cNvPr>
          <p:cNvSpPr txBox="1"/>
          <p:nvPr/>
        </p:nvSpPr>
        <p:spPr bwMode="auto">
          <a:xfrm>
            <a:off x="3275856" y="3135491"/>
            <a:ext cx="4752528" cy="46166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Experiment</a:t>
            </a:r>
            <a:endParaRPr lang="en-US" altLang="ko-KR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1" name="직사각형 39">
            <a:extLst>
              <a:ext uri="{FF2B5EF4-FFF2-40B4-BE49-F238E27FC236}">
                <a16:creationId xmlns:a16="http://schemas.microsoft.com/office/drawing/2014/main" id="{24945693-0791-B93C-4D3E-5AE7D61B8982}"/>
              </a:ext>
            </a:extLst>
          </p:cNvPr>
          <p:cNvSpPr/>
          <p:nvPr/>
        </p:nvSpPr>
        <p:spPr>
          <a:xfrm>
            <a:off x="2509438" y="4036493"/>
            <a:ext cx="403184" cy="523220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ko-KR" sz="2800" b="1" dirty="0">
                <a:solidFill>
                  <a:schemeClr val="bg1"/>
                </a:solidFill>
                <a:cs typeface="Arial" pitchFamily="34" charset="0"/>
              </a:rPr>
              <a:t>4 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53" name="TextBox 10">
            <a:extLst>
              <a:ext uri="{FF2B5EF4-FFF2-40B4-BE49-F238E27FC236}">
                <a16:creationId xmlns:a16="http://schemas.microsoft.com/office/drawing/2014/main" id="{3799AEA1-F38C-E20B-2D45-50C2BBBDC54B}"/>
              </a:ext>
            </a:extLst>
          </p:cNvPr>
          <p:cNvSpPr txBox="1"/>
          <p:nvPr/>
        </p:nvSpPr>
        <p:spPr bwMode="auto">
          <a:xfrm>
            <a:off x="3275856" y="4055030"/>
            <a:ext cx="4752528" cy="46166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095055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Introduction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lvl="0"/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AC6961A-EE0A-D1AD-4B15-5EBDC42586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49" r="-1031" b="27276"/>
          <a:stretch/>
        </p:blipFill>
        <p:spPr bwMode="auto">
          <a:xfrm>
            <a:off x="1043608" y="1275606"/>
            <a:ext cx="7056784" cy="2160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직사각형 3"/>
              <p:cNvSpPr/>
              <p:nvPr/>
            </p:nvSpPr>
            <p:spPr>
              <a:xfrm>
                <a:off x="1079612" y="3651870"/>
                <a:ext cx="6984776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3D4144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 smtClean="0">
                    <a:solidFill>
                      <a:srgbClr val="3D4144"/>
                    </a:solidFill>
                    <a:effectLst/>
                    <a:latin typeface="-apple-system"/>
                  </a:rPr>
                  <a:t>: input query</a:t>
                </a:r>
              </a:p>
              <a:p>
                <a:pPr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3D4144"/>
                        </a:solidFill>
                        <a:effectLst/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altLang="ko-KR" b="0" i="0" dirty="0" smtClean="0">
                    <a:solidFill>
                      <a:srgbClr val="3D4144"/>
                    </a:solidFill>
                    <a:effectLst/>
                    <a:latin typeface="-apple-system"/>
                  </a:rPr>
                  <a:t>: text document</a:t>
                </a:r>
              </a:p>
              <a:p>
                <a:pPr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3D4144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 smtClean="0">
                    <a:solidFill>
                      <a:srgbClr val="3D4144"/>
                    </a:solidFill>
                    <a:effectLst/>
                    <a:latin typeface="-apple-system"/>
                  </a:rPr>
                  <a:t>: answer sequence</a:t>
                </a:r>
                <a:endParaRPr lang="ko-KR" altLang="en-US" b="0" i="0" dirty="0">
                  <a:solidFill>
                    <a:srgbClr val="3D4144"/>
                  </a:solidFill>
                  <a:effectLst/>
                  <a:latin typeface="-apple-system"/>
                </a:endParaRPr>
              </a:p>
            </p:txBody>
          </p:sp>
        </mc:Choice>
        <mc:Fallback>
          <p:sp>
            <p:nvSpPr>
              <p:cNvPr id="4" name="직사각형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612" y="3651870"/>
                <a:ext cx="6984776" cy="923330"/>
              </a:xfrm>
              <a:prstGeom prst="rect">
                <a:avLst/>
              </a:prstGeom>
              <a:blipFill>
                <a:blip r:embed="rId3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9406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730F-E468-BBFA-FF6E-5BA463320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CBE313-A156-AC97-3262-530092441D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Introduction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94AF4-7E21-D98D-8D00-16719BEC0E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lvl="0"/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5FAC8E5-7166-5819-770F-035A5C47F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054" y="987574"/>
            <a:ext cx="7625891" cy="3414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1784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DC86F-F8F9-A341-97D0-D4C41D5FF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06CE857-07FA-C179-6418-13DD1F63E3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Method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395536" y="1779662"/>
                <a:ext cx="7967502" cy="287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𝑅𝐴𝐺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𝑆𝑒𝑞𝑢𝑒𝑛𝑐𝑒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)≈</m:t>
                    </m:r>
                  </m:oMath>
                </a14:m>
                <a:r>
                  <a:rPr lang="ko-KR" altLang="en-US" sz="1400" dirty="0" smtClean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ko-KR" altLang="en-US" sz="14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𝑡𝑜𝑝</m:t>
                        </m:r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altLang="ko-KR" sz="1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brk m:alnAt="7"/>
                              </m:rPr>
                              <a:rPr lang="en-US" altLang="ko-KR" sz="1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altLang="ko-KR" sz="14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14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14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sub>
                      <m:sup/>
                      <m:e>
                        <m:sSub>
                          <m:sSubPr>
                            <m:ctrlPr>
                              <a:rPr lang="en-US" altLang="ko-KR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ko-KR" altLang="en-US" sz="1400" i="1" dirty="0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e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nary>
                    <m:sSub>
                      <m:sSubPr>
                        <m:ctrlP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ko-KR" altLang="en-US" sz="1400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e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altLang="ko-KR" sz="14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ko-KR" altLang="en-US" sz="1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 sz="1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ko-KR" sz="1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𝑡𝑜𝑝</m:t>
                        </m:r>
                        <m:r>
                          <a:rPr lang="en-US" altLang="ko-KR" sz="14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­</m:t>
                        </m:r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−­­­­­</m:t>
                        </m:r>
                        <m:r>
                          <a:rPr lang="en-US" altLang="ko-KR" sz="1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altLang="ko-KR" sz="1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brk m:alnAt="7"/>
                              </m:rPr>
                              <a:rPr lang="en-US" altLang="ko-KR" sz="1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altLang="ko-KR" sz="1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1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1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sub>
                      <m:sup/>
                      <m:e>
                        <m:sSub>
                          <m:sSubPr>
                            <m:ctrlP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ko-KR" altLang="en-US" sz="1400" i="1" dirty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nary>
                      <m:naryPr>
                        <m:chr m:val="∏"/>
                        <m:ctrlP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ko-KR" altLang="en-US" sz="14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4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sz="14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altLang="ko-KR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ko-KR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4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sz="1400" b="0" i="1" dirty="0" smtClean="0">
                                    <a:latin typeface="Cambria Math" panose="02040503050406030204" pitchFamily="18" charset="0"/>
                                  </a:rPr>
                                  <m:t>1:</m:t>
                                </m:r>
                                <m:r>
                                  <a:rPr lang="en-US" altLang="ko-KR" sz="14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ko-KR" sz="1400" b="0" i="1" dirty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6" y="1779662"/>
                <a:ext cx="7967502" cy="287515"/>
              </a:xfrm>
              <a:prstGeom prst="rect">
                <a:avLst/>
              </a:prstGeom>
              <a:blipFill>
                <a:blip r:embed="rId3"/>
                <a:stretch>
                  <a:fillRect l="-765" t="-121277" b="-1680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/>
              <p:cNvSpPr txBox="1"/>
              <p:nvPr/>
            </p:nvSpPr>
            <p:spPr>
              <a:xfrm>
                <a:off x="395536" y="2356501"/>
                <a:ext cx="4918975" cy="287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𝑅𝐴𝐺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𝑇𝑜𝑘𝑒𝑛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)≈</m:t>
                    </m:r>
                  </m:oMath>
                </a14:m>
                <a:r>
                  <a:rPr lang="ko-KR" altLang="en-US" sz="1400" dirty="0" smtClean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∏"/>
                        <m:ctrlPr>
                          <a:rPr lang="ko-KR" altLang="en-US" sz="14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ko-KR" altLang="en-US" sz="1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𝑡𝑜𝑝</m:t>
                            </m:r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­−­­­­­</m:t>
                            </m:r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d>
                              <m:dPr>
                                <m:ctrlPr>
                                  <a:rPr lang="en-US" altLang="ko-KR" sz="1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1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altLang="ko-KR" sz="1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ko-KR" sz="1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∙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ko-KR" sz="1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altLang="ko-KR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400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ko-KR" altLang="en-US" sz="1400" i="1" dirty="0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sub>
                            </m:sSub>
                          </m:e>
                        </m:nary>
                        <m:d>
                          <m:dPr>
                            <m:ctrlP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e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sSub>
                          <m:sSubPr>
                            <m:ctrlP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ko-KR" altLang="en-US" sz="14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4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sz="1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altLang="ko-KR" sz="14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ko-KR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4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sz="1400" i="1" dirty="0">
                                    <a:latin typeface="Cambria Math" panose="02040503050406030204" pitchFamily="18" charset="0"/>
                                  </a:rPr>
                                  <m:t>1:</m:t>
                                </m:r>
                                <m:r>
                                  <a:rPr lang="en-US" altLang="ko-KR" sz="1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ko-KR" sz="1400" i="1" dirty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6" y="2356501"/>
                <a:ext cx="4918975" cy="287515"/>
              </a:xfrm>
              <a:prstGeom prst="rect">
                <a:avLst/>
              </a:prstGeom>
              <a:blipFill>
                <a:blip r:embed="rId4"/>
                <a:stretch>
                  <a:fillRect l="-1239" t="-121277" b="-1680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직사각형 21"/>
              <p:cNvSpPr/>
              <p:nvPr/>
            </p:nvSpPr>
            <p:spPr>
              <a:xfrm>
                <a:off x="323528" y="3219822"/>
                <a:ext cx="3043590" cy="67101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d>
                      <m:d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e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: retriever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1:</m:t>
                            </m:r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ko-KR" i="1" dirty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: generator</a:t>
                </a:r>
                <a:endParaRPr lang="ko-KR" altLang="en-US" dirty="0"/>
              </a:p>
            </p:txBody>
          </p:sp>
        </mc:Choice>
        <mc:Fallback>
          <p:sp>
            <p:nvSpPr>
              <p:cNvPr id="22" name="직사각형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3219822"/>
                <a:ext cx="3043590" cy="671018"/>
              </a:xfrm>
              <a:prstGeom prst="rect">
                <a:avLst/>
              </a:prstGeom>
              <a:blipFill>
                <a:blip r:embed="rId5"/>
                <a:stretch>
                  <a:fillRect t="-4545" r="-1002" b="-1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/>
          <p:cNvSpPr/>
          <p:nvPr/>
        </p:nvSpPr>
        <p:spPr>
          <a:xfrm>
            <a:off x="323528" y="1707654"/>
            <a:ext cx="8039510" cy="10081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83657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D2CC2-9985-B042-118C-C58C89AAB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그림 33">
            <a:extLst>
              <a:ext uri="{FF2B5EF4-FFF2-40B4-BE49-F238E27FC236}">
                <a16:creationId xmlns:a16="http://schemas.microsoft.com/office/drawing/2014/main" id="{F5244B26-041A-C5B7-6059-01413B65AB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999" b="-11032"/>
          <a:stretch>
            <a:fillRect/>
          </a:stretch>
        </p:blipFill>
        <p:spPr>
          <a:xfrm>
            <a:off x="539552" y="1203598"/>
            <a:ext cx="3383360" cy="3888432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C4445208-CFC8-C253-E1A6-1992125C8A07}"/>
              </a:ext>
            </a:extLst>
          </p:cNvPr>
          <p:cNvGrpSpPr/>
          <p:nvPr/>
        </p:nvGrpSpPr>
        <p:grpSpPr>
          <a:xfrm>
            <a:off x="4402415" y="2931790"/>
            <a:ext cx="4536504" cy="1791789"/>
            <a:chOff x="4402415" y="2931790"/>
            <a:chExt cx="4536504" cy="1791789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62DCEA67-E113-1DEB-E257-21953AEB73A5}"/>
                </a:ext>
              </a:extLst>
            </p:cNvPr>
            <p:cNvSpPr/>
            <p:nvPr/>
          </p:nvSpPr>
          <p:spPr>
            <a:xfrm>
              <a:off x="4402415" y="2931790"/>
              <a:ext cx="4536504" cy="179178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9F4F543-6EB0-5436-B460-04E227277AB6}"/>
                </a:ext>
              </a:extLst>
            </p:cNvPr>
            <p:cNvSpPr txBox="1"/>
            <p:nvPr/>
          </p:nvSpPr>
          <p:spPr>
            <a:xfrm>
              <a:off x="4504048" y="3227520"/>
              <a:ext cx="4333238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연구실 컴퓨터 스펙 </a:t>
              </a:r>
              <a:r>
                <a:rPr kumimoji="0" lang="en-US" altLang="ko-KR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(A4500 20GB </a:t>
              </a:r>
              <a:r>
                <a:rPr kumimoji="0" lang="ko-KR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두 장</a:t>
              </a:r>
              <a:r>
                <a:rPr kumimoji="0" lang="en-US" altLang="ko-KR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)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dirty="0" err="1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으로는</a:t>
              </a:r>
              <a:r>
                <a:rPr lang="ko-KR" altLang="en-US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kumimoji="0" lang="ko-KR" alt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파인튜닝하기</a:t>
              </a:r>
              <a:r>
                <a:rPr kumimoji="0" lang="ko-KR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 어려웠음</a:t>
              </a:r>
              <a:endPara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DeepSpeed</a:t>
              </a:r>
              <a:r>
                <a:rPr kumimoji="0" lang="en-US" altLang="ko-KR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 </a:t>
              </a:r>
              <a:r>
                <a:rPr kumimoji="0" lang="ko-KR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와 </a:t>
              </a:r>
              <a:r>
                <a:rPr kumimoji="0" lang="en-US" altLang="ko-KR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QLoRA</a:t>
              </a:r>
              <a:r>
                <a:rPr kumimoji="0" lang="ko-KR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를 써서 해결</a:t>
              </a:r>
              <a:r>
                <a:rPr kumimoji="0" lang="en-US" altLang="ko-KR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!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14C3FDD-ED73-2571-910E-32529093D6C9}"/>
              </a:ext>
            </a:extLst>
          </p:cNvPr>
          <p:cNvGrpSpPr/>
          <p:nvPr/>
        </p:nvGrpSpPr>
        <p:grpSpPr>
          <a:xfrm>
            <a:off x="4402415" y="1215826"/>
            <a:ext cx="4536504" cy="1512168"/>
            <a:chOff x="4402415" y="1215826"/>
            <a:chExt cx="4536504" cy="1512168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F888A009-6F3C-91B4-9236-E2407F81FF29}"/>
                </a:ext>
              </a:extLst>
            </p:cNvPr>
            <p:cNvSpPr/>
            <p:nvPr/>
          </p:nvSpPr>
          <p:spPr>
            <a:xfrm>
              <a:off x="4402415" y="1215826"/>
              <a:ext cx="4536504" cy="151216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4605FB4-9AFC-3F65-8601-E53778F5D80D}"/>
                </a:ext>
              </a:extLst>
            </p:cNvPr>
            <p:cNvSpPr txBox="1"/>
            <p:nvPr/>
          </p:nvSpPr>
          <p:spPr>
            <a:xfrm>
              <a:off x="4445539" y="1233246"/>
              <a:ext cx="4450256" cy="14773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기본 </a:t>
              </a:r>
              <a:r>
                <a:rPr kumimoji="0" lang="en-US" altLang="ko-KR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KoGPT3 </a:t>
              </a:r>
              <a:r>
                <a:rPr kumimoji="0" lang="ko-KR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모델에서</a:t>
              </a:r>
              <a:endPara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추론 시 </a:t>
              </a:r>
              <a:r>
                <a:rPr kumimoji="0" lang="en-US" altLang="ko-KR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GPU</a:t>
              </a:r>
              <a:r>
                <a:rPr kumimoji="0" lang="ko-KR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메모리 사용량</a:t>
              </a:r>
              <a:r>
                <a:rPr kumimoji="0" lang="en-US" altLang="ko-KR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: </a:t>
              </a:r>
              <a:r>
                <a:rPr kumimoji="0" lang="ko-KR" alt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약 </a:t>
              </a:r>
              <a:r>
                <a:rPr kumimoji="0" lang="en-US" altLang="ko-KR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20GB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파인튜닝</a:t>
              </a:r>
              <a:r>
                <a:rPr kumimoji="0" lang="ko-KR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 시 </a:t>
              </a:r>
              <a:r>
                <a:rPr kumimoji="0" lang="en-US" altLang="ko-KR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GPU</a:t>
              </a:r>
              <a:r>
                <a:rPr kumimoji="0" lang="ko-KR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메모리 사용량</a:t>
              </a:r>
              <a:r>
                <a:rPr kumimoji="0" lang="en-US" altLang="ko-KR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: </a:t>
              </a:r>
              <a:r>
                <a:rPr kumimoji="0" lang="ko-KR" alt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약 </a:t>
              </a:r>
              <a:r>
                <a:rPr kumimoji="0" lang="en-US" altLang="ko-KR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60GB</a:t>
              </a: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+mn-cs"/>
              </a:endParaRP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537562-E10D-3554-4B0F-37432BD1E7E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Architecture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2547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AF484-E968-C663-D104-F71DA0132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0E05D570-BC43-306D-BF02-46FC0D620A92}"/>
              </a:ext>
            </a:extLst>
          </p:cNvPr>
          <p:cNvGrpSpPr/>
          <p:nvPr/>
        </p:nvGrpSpPr>
        <p:grpSpPr>
          <a:xfrm>
            <a:off x="467544" y="1419622"/>
            <a:ext cx="8352928" cy="3384376"/>
            <a:chOff x="1084673" y="3134634"/>
            <a:chExt cx="7854246" cy="1588945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6546873F-2CDF-3321-255E-93753A2AEAB0}"/>
                </a:ext>
              </a:extLst>
            </p:cNvPr>
            <p:cNvSpPr/>
            <p:nvPr/>
          </p:nvSpPr>
          <p:spPr>
            <a:xfrm>
              <a:off x="4402415" y="3134634"/>
              <a:ext cx="4536504" cy="158894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F63D348-A6CA-E381-E437-94F6A9E81C3E}"/>
                </a:ext>
              </a:extLst>
            </p:cNvPr>
            <p:cNvSpPr txBox="1"/>
            <p:nvPr/>
          </p:nvSpPr>
          <p:spPr>
            <a:xfrm>
              <a:off x="1084673" y="3540322"/>
              <a:ext cx="2401327" cy="433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Microsoft</a:t>
              </a:r>
              <a:r>
                <a:rPr lang="ko-KR" altLang="en-US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에서 개발한 딥러닝 최적화 라이브러리</a:t>
              </a:r>
              <a:endPara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32CAAAE-BA35-0A3A-1101-5F2BE7CFBC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DeepSpeed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D244C1-B49A-993F-F489-5E6C837567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1419622"/>
            <a:ext cx="2381250" cy="71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F67A2D-9FDB-45D3-AA99-E26DA05938B6}"/>
              </a:ext>
            </a:extLst>
          </p:cNvPr>
          <p:cNvSpPr txBox="1"/>
          <p:nvPr/>
        </p:nvSpPr>
        <p:spPr>
          <a:xfrm>
            <a:off x="4156996" y="1557538"/>
            <a:ext cx="459146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ko-KR" sz="2000" b="1" dirty="0" err="1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ZeRO</a:t>
            </a: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Optimization</a:t>
            </a:r>
          </a:p>
          <a:p>
            <a:pPr marR="0" lvl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R="0" lvl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</a:t>
            </a:r>
            <a:r>
              <a:rPr lang="ko-KR" altLang="en-US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Offloading</a:t>
            </a:r>
          </a:p>
          <a:p>
            <a:pPr marL="285750" marR="0" lvl="0" indent="-28575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ko-KR" sz="20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ko-KR" sz="20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Gradient Checkpointing</a:t>
            </a:r>
          </a:p>
          <a:p>
            <a:pPr marR="0" lvl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 altLang="ko-KR" sz="20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lvl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 altLang="ko-KR" sz="20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Mixed Precision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25C1D6-650A-BE0D-361D-A35574FD9A54}"/>
              </a:ext>
            </a:extLst>
          </p:cNvPr>
          <p:cNvSpPr txBox="1"/>
          <p:nvPr/>
        </p:nvSpPr>
        <p:spPr>
          <a:xfrm>
            <a:off x="5796136" y="1050289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주요 기술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7732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34B18-D2A0-F4A4-E3F2-4661AF80D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BEC1D3-19C4-A34D-01AD-1845B35B5C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DeepSpeed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6AC852-FBDF-CD3A-E920-DA834F7F231E}"/>
              </a:ext>
            </a:extLst>
          </p:cNvPr>
          <p:cNvSpPr txBox="1"/>
          <p:nvPr/>
        </p:nvSpPr>
        <p:spPr>
          <a:xfrm>
            <a:off x="340572" y="1557538"/>
            <a:ext cx="45914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ko-KR" sz="2000" b="1" dirty="0" err="1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ZeRO</a:t>
            </a: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Optimization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B2F51D-167A-ACB5-95DD-245271FD0179}"/>
              </a:ext>
            </a:extLst>
          </p:cNvPr>
          <p:cNvSpPr txBox="1"/>
          <p:nvPr/>
        </p:nvSpPr>
        <p:spPr>
          <a:xfrm>
            <a:off x="1979712" y="1050288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주요 기술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5702FC0-E8D4-D2FC-88D1-279202D9BB94}"/>
              </a:ext>
            </a:extLst>
          </p:cNvPr>
          <p:cNvSpPr/>
          <p:nvPr/>
        </p:nvSpPr>
        <p:spPr>
          <a:xfrm>
            <a:off x="179512" y="1419621"/>
            <a:ext cx="4824536" cy="3384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FF9BAC8-D310-EF92-4BAB-5884E5C21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2153124"/>
            <a:ext cx="4519460" cy="2362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A278A1E-F922-F76C-65E3-C00FD7FDB517}"/>
              </a:ext>
            </a:extLst>
          </p:cNvPr>
          <p:cNvSpPr txBox="1"/>
          <p:nvPr/>
        </p:nvSpPr>
        <p:spPr>
          <a:xfrm>
            <a:off x="5174802" y="1419620"/>
            <a:ext cx="386026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Stage 1 : </a:t>
            </a:r>
            <a:r>
              <a:rPr lang="ko-KR" altLang="en-US" sz="2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상태를 분산 저장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endParaRPr lang="ko-KR" altLang="en-US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Stage 2 : Stage1 + </a:t>
            </a:r>
            <a:r>
              <a:rPr lang="ko-KR" altLang="en-US" sz="2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그라디언트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분산 저장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endParaRPr lang="ko-KR" altLang="en-US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Stage 3 : Stage1 + Stage2 + 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모델 가중치 분산 저장</a:t>
            </a:r>
          </a:p>
        </p:txBody>
      </p:sp>
    </p:spTree>
    <p:extLst>
      <p:ext uri="{BB962C8B-B14F-4D97-AF65-F5344CB8AC3E}">
        <p14:creationId xmlns:p14="http://schemas.microsoft.com/office/powerpoint/2010/main" val="34893739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3F42D-26C4-0995-B3FB-7909E9DF7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19D282-217C-71C8-9BF6-91DF69692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DeepSpeed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7AE59E-7648-439D-EF11-7790F0D9A605}"/>
              </a:ext>
            </a:extLst>
          </p:cNvPr>
          <p:cNvSpPr txBox="1"/>
          <p:nvPr/>
        </p:nvSpPr>
        <p:spPr>
          <a:xfrm>
            <a:off x="340572" y="1557538"/>
            <a:ext cx="45914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</a:t>
            </a:r>
            <a:r>
              <a:rPr lang="ko-KR" altLang="en-US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Offloading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D03165-C7C5-E5DB-65EA-A93512DC94F5}"/>
              </a:ext>
            </a:extLst>
          </p:cNvPr>
          <p:cNvSpPr txBox="1"/>
          <p:nvPr/>
        </p:nvSpPr>
        <p:spPr>
          <a:xfrm>
            <a:off x="1979712" y="1050288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주요 기술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6E57D60-D2DA-E33F-30B7-F6D3FB330361}"/>
              </a:ext>
            </a:extLst>
          </p:cNvPr>
          <p:cNvSpPr/>
          <p:nvPr/>
        </p:nvSpPr>
        <p:spPr>
          <a:xfrm>
            <a:off x="179512" y="1419621"/>
            <a:ext cx="4824536" cy="3384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6" name="그림 2">
            <a:extLst>
              <a:ext uri="{FF2B5EF4-FFF2-40B4-BE49-F238E27FC236}">
                <a16:creationId xmlns:a16="http://schemas.microsoft.com/office/drawing/2014/main" id="{A6FCF74A-14EB-469E-496B-B31BC4FF0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/>
          <a:stretch/>
        </p:blipFill>
        <p:spPr>
          <a:xfrm>
            <a:off x="1640162" y="2839778"/>
            <a:ext cx="2102136" cy="2102136"/>
          </a:xfrm>
          <a:prstGeom prst="rect">
            <a:avLst/>
          </a:prstGeom>
        </p:spPr>
      </p:pic>
      <p:sp>
        <p:nvSpPr>
          <p:cNvPr id="31" name="별: 꼭짓점 6개 30">
            <a:extLst>
              <a:ext uri="{FF2B5EF4-FFF2-40B4-BE49-F238E27FC236}">
                <a16:creationId xmlns:a16="http://schemas.microsoft.com/office/drawing/2014/main" id="{23297FAF-222B-29F3-79A2-9AC84ECD5778}"/>
              </a:ext>
            </a:extLst>
          </p:cNvPr>
          <p:cNvSpPr/>
          <p:nvPr/>
        </p:nvSpPr>
        <p:spPr>
          <a:xfrm>
            <a:off x="2932566" y="2111841"/>
            <a:ext cx="1989616" cy="2088232"/>
          </a:xfrm>
          <a:prstGeom prst="star6">
            <a:avLst>
              <a:gd name="adj" fmla="val 24191"/>
              <a:gd name="hf" fmla="val 115470"/>
            </a:avLst>
          </a:prstGeom>
          <a:noFill/>
          <a:ln w="31750">
            <a:solidFill>
              <a:srgbClr val="9AD3E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BC29CA-E9AC-3008-96B2-55C109A987FC}"/>
              </a:ext>
            </a:extLst>
          </p:cNvPr>
          <p:cNvSpPr txBox="1"/>
          <p:nvPr/>
        </p:nvSpPr>
        <p:spPr>
          <a:xfrm>
            <a:off x="3174604" y="2735860"/>
            <a:ext cx="1505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b="1" dirty="0">
                <a:solidFill>
                  <a:srgbClr val="9AD3E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GPU </a:t>
            </a:r>
            <a:r>
              <a:rPr lang="ko-KR" altLang="en-US" b="1" dirty="0">
                <a:solidFill>
                  <a:srgbClr val="9AD3E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메모리</a:t>
            </a:r>
            <a:r>
              <a:rPr lang="en-US" altLang="ko-KR" b="1" dirty="0">
                <a:solidFill>
                  <a:srgbClr val="9AD3E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</a:p>
          <a:p>
            <a:pPr algn="ctr"/>
            <a:r>
              <a:rPr lang="ko-KR" altLang="en-US" b="1" dirty="0">
                <a:solidFill>
                  <a:srgbClr val="9AD3E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초과 감지</a:t>
            </a:r>
          </a:p>
        </p:txBody>
      </p:sp>
      <p:pic>
        <p:nvPicPr>
          <p:cNvPr id="3076" name="Picture 4" descr="Cpu 사진 | Unsplash에서 무료 이미지 다운로드">
            <a:extLst>
              <a:ext uri="{FF2B5EF4-FFF2-40B4-BE49-F238E27FC236}">
                <a16:creationId xmlns:a16="http://schemas.microsoft.com/office/drawing/2014/main" id="{67AE7FCF-92F4-DF7C-C973-06659C1B9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5842" y="1234954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9" name="그룹 48">
            <a:extLst>
              <a:ext uri="{FF2B5EF4-FFF2-40B4-BE49-F238E27FC236}">
                <a16:creationId xmlns:a16="http://schemas.microsoft.com/office/drawing/2014/main" id="{8845A8A6-3466-64B0-DAAD-0DDC26102EC7}"/>
              </a:ext>
            </a:extLst>
          </p:cNvPr>
          <p:cNvGrpSpPr/>
          <p:nvPr/>
        </p:nvGrpSpPr>
        <p:grpSpPr>
          <a:xfrm>
            <a:off x="5530775" y="3107779"/>
            <a:ext cx="3361705" cy="2200275"/>
            <a:chOff x="5530775" y="3107779"/>
            <a:chExt cx="3361705" cy="2200275"/>
          </a:xfrm>
        </p:grpSpPr>
        <p:pic>
          <p:nvPicPr>
            <p:cNvPr id="34" name="그림 33" descr="전자제품, 컴퓨터 구성 요소, 전자 부품, 전자 공학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9B36E69-CFCB-F8B1-80AF-15412CA41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0775" y="3107779"/>
              <a:ext cx="2832497" cy="1743075"/>
            </a:xfrm>
            <a:prstGeom prst="rect">
              <a:avLst/>
            </a:prstGeom>
          </p:spPr>
        </p:pic>
        <p:pic>
          <p:nvPicPr>
            <p:cNvPr id="35" name="그림 34" descr="전자제품, 컴퓨터 구성 요소, 전자 부품, 전자 공학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176D08C-2525-912A-F275-14BCAF85A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55183" y="3260179"/>
              <a:ext cx="2832497" cy="1743075"/>
            </a:xfrm>
            <a:prstGeom prst="rect">
              <a:avLst/>
            </a:prstGeom>
          </p:spPr>
        </p:pic>
        <p:pic>
          <p:nvPicPr>
            <p:cNvPr id="36" name="그림 35" descr="전자제품, 컴퓨터 구성 요소, 전자 부품, 전자 공학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86BB7D4-6150-FE86-07E6-77FF7591626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35575" y="3412579"/>
              <a:ext cx="2832497" cy="1743075"/>
            </a:xfrm>
            <a:prstGeom prst="rect">
              <a:avLst/>
            </a:prstGeom>
          </p:spPr>
        </p:pic>
        <p:pic>
          <p:nvPicPr>
            <p:cNvPr id="37" name="그림 36" descr="전자제품, 컴퓨터 구성 요소, 전자 부품, 전자 공학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7174592-76D2-CA10-FCB5-F8F3F2F14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59983" y="3564979"/>
              <a:ext cx="2832497" cy="1743075"/>
            </a:xfrm>
            <a:prstGeom prst="rect">
              <a:avLst/>
            </a:prstGeom>
          </p:spPr>
        </p:pic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16DA0E09-251D-675C-FD45-E1A11365EBB1}"/>
              </a:ext>
            </a:extLst>
          </p:cNvPr>
          <p:cNvGrpSpPr/>
          <p:nvPr/>
        </p:nvGrpSpPr>
        <p:grpSpPr>
          <a:xfrm>
            <a:off x="3039784" y="3378875"/>
            <a:ext cx="1672952" cy="760437"/>
            <a:chOff x="2843808" y="930408"/>
            <a:chExt cx="1672952" cy="760437"/>
          </a:xfrm>
        </p:grpSpPr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8DAC046-A0E2-B1F4-2EC6-15261097A25A}"/>
                </a:ext>
              </a:extLst>
            </p:cNvPr>
            <p:cNvSpPr/>
            <p:nvPr/>
          </p:nvSpPr>
          <p:spPr>
            <a:xfrm>
              <a:off x="2843808" y="930408"/>
              <a:ext cx="1368152" cy="455637"/>
            </a:xfrm>
            <a:prstGeom prst="rect">
              <a:avLst/>
            </a:prstGeom>
            <a:solidFill>
              <a:srgbClr val="9AD3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>
                  <a:latin typeface="맑은 고딕" panose="020B0503020000020004" pitchFamily="50" charset="-127"/>
                  <a:ea typeface="맑은 고딕" panose="020B0503020000020004" pitchFamily="50" charset="-127"/>
                </a:rPr>
                <a:t>옵티마이저</a:t>
              </a:r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6DAA0368-D222-D9F0-0E15-B385D92F9457}"/>
                </a:ext>
              </a:extLst>
            </p:cNvPr>
            <p:cNvSpPr/>
            <p:nvPr/>
          </p:nvSpPr>
          <p:spPr>
            <a:xfrm>
              <a:off x="2996208" y="1082808"/>
              <a:ext cx="1368152" cy="455637"/>
            </a:xfrm>
            <a:prstGeom prst="rect">
              <a:avLst/>
            </a:prstGeom>
            <a:solidFill>
              <a:srgbClr val="9AD3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>
                  <a:latin typeface="맑은 고딕" panose="020B0503020000020004" pitchFamily="50" charset="-127"/>
                  <a:ea typeface="맑은 고딕" panose="020B0503020000020004" pitchFamily="50" charset="-127"/>
                </a:rPr>
                <a:t>옵티마이저</a:t>
              </a:r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C5965B95-2962-6B94-D44A-BEC746446FD2}"/>
                </a:ext>
              </a:extLst>
            </p:cNvPr>
            <p:cNvSpPr/>
            <p:nvPr/>
          </p:nvSpPr>
          <p:spPr>
            <a:xfrm>
              <a:off x="3148608" y="1235208"/>
              <a:ext cx="1368152" cy="455637"/>
            </a:xfrm>
            <a:prstGeom prst="rect">
              <a:avLst/>
            </a:prstGeom>
            <a:solidFill>
              <a:srgbClr val="9AD3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>
                  <a:latin typeface="맑은 고딕" panose="020B0503020000020004" pitchFamily="50" charset="-127"/>
                  <a:ea typeface="맑은 고딕" panose="020B0503020000020004" pitchFamily="50" charset="-127"/>
                </a:rPr>
                <a:t>옵티마이저</a:t>
              </a:r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7546262-4A38-F11C-F516-869D0492D059}"/>
              </a:ext>
            </a:extLst>
          </p:cNvPr>
          <p:cNvGrpSpPr/>
          <p:nvPr/>
        </p:nvGrpSpPr>
        <p:grpSpPr>
          <a:xfrm>
            <a:off x="3018078" y="3361380"/>
            <a:ext cx="1672952" cy="760437"/>
            <a:chOff x="2843808" y="930408"/>
            <a:chExt cx="1672952" cy="760437"/>
          </a:xfrm>
        </p:grpSpPr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13341B37-4E12-4BF3-4F6C-8690567B85E1}"/>
                </a:ext>
              </a:extLst>
            </p:cNvPr>
            <p:cNvSpPr/>
            <p:nvPr/>
          </p:nvSpPr>
          <p:spPr>
            <a:xfrm>
              <a:off x="2843808" y="930408"/>
              <a:ext cx="1368152" cy="455637"/>
            </a:xfrm>
            <a:prstGeom prst="rect">
              <a:avLst/>
            </a:prstGeom>
            <a:solidFill>
              <a:srgbClr val="9AD3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>
                  <a:latin typeface="맑은 고딕" panose="020B0503020000020004" pitchFamily="50" charset="-127"/>
                  <a:ea typeface="맑은 고딕" panose="020B0503020000020004" pitchFamily="50" charset="-127"/>
                </a:rPr>
                <a:t>옵티마이저</a:t>
              </a:r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00A3FDF-DBA2-EE1E-33EC-5977B32F3617}"/>
                </a:ext>
              </a:extLst>
            </p:cNvPr>
            <p:cNvSpPr/>
            <p:nvPr/>
          </p:nvSpPr>
          <p:spPr>
            <a:xfrm>
              <a:off x="2996208" y="1082808"/>
              <a:ext cx="1368152" cy="455637"/>
            </a:xfrm>
            <a:prstGeom prst="rect">
              <a:avLst/>
            </a:prstGeom>
            <a:solidFill>
              <a:srgbClr val="9AD3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>
                  <a:latin typeface="맑은 고딕" panose="020B0503020000020004" pitchFamily="50" charset="-127"/>
                  <a:ea typeface="맑은 고딕" panose="020B0503020000020004" pitchFamily="50" charset="-127"/>
                </a:rPr>
                <a:t>옵티마이저</a:t>
              </a:r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81637F35-30EC-32D5-16DE-C2401ACFE1E3}"/>
                </a:ext>
              </a:extLst>
            </p:cNvPr>
            <p:cNvSpPr/>
            <p:nvPr/>
          </p:nvSpPr>
          <p:spPr>
            <a:xfrm>
              <a:off x="3148608" y="1235208"/>
              <a:ext cx="1368152" cy="455637"/>
            </a:xfrm>
            <a:prstGeom prst="rect">
              <a:avLst/>
            </a:prstGeom>
            <a:solidFill>
              <a:srgbClr val="9AD3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>
                  <a:latin typeface="맑은 고딕" panose="020B0503020000020004" pitchFamily="50" charset="-127"/>
                  <a:ea typeface="맑은 고딕" panose="020B0503020000020004" pitchFamily="50" charset="-127"/>
                </a:rPr>
                <a:t>옵티마이저</a:t>
              </a:r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05517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649 0.00617 L 0.01649 0.00617 C 0.04184 -0.00957 0.06736 -0.02407 0.09253 -0.04043 C 0.10225 -0.04691 0.11215 -0.05247 0.1217 -0.05957 C 0.13698 -0.07099 0.15156 -0.08518 0.16701 -0.09568 C 0.18403 -0.10741 0.20173 -0.11667 0.21823 -0.13056 C 0.22239 -0.13426 0.22639 -0.13858 0.23073 -0.14105 C 0.23663 -0.14475 0.24548 -0.14475 0.25156 -0.14537 C 0.26788 -0.15062 0.24878 -0.14506 0.28194 -0.14846 C 0.2842 -0.14876 0.28628 -0.15 0.28854 -0.15062 C 0.29097 -0.15154 0.29357 -0.15216 0.29618 -0.15278 C 0.30104 -0.15401 0.30573 -0.15494 0.31041 -0.15586 C 0.3191 -0.15772 0.3276 -0.15895 0.33611 -0.16142 C 0.34514 -0.16389 0.34114 -0.16327 0.34809 -0.16327 " pathEditMode="relative" ptsTypes="AAAAAAAAAAAAAA">
                                      <p:cBhvr>
                                        <p:cTn id="27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694 0.00586 L 0.00694 0.00586 C 0.02743 0.03209 0.05 0.06358 0.07344 0.07993 C 0.11371 0.10771 0.14601 0.10463 0.18906 0.10956 L 0.24548 0.10833 C 0.24844 0.10802 0.25104 0.10493 0.25382 0.10401 C 0.2566 0.10339 0.25937 0.10308 0.26215 0.10308 L 0.32048 0.10216 C 0.34548 0.09845 0.33819 0.10864 0.34739 0.09259 " pathEditMode="relative" ptsTypes="AAAAAAAAA">
                                      <p:cBhvr>
                                        <p:cTn id="36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A63B7-49B4-FE07-2B39-521F520C2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2D95114-5908-D502-DE82-D03B2101DA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DeepSpeed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575229-4D50-B7E1-C5E6-F4530A83E480}"/>
              </a:ext>
            </a:extLst>
          </p:cNvPr>
          <p:cNvSpPr txBox="1"/>
          <p:nvPr/>
        </p:nvSpPr>
        <p:spPr>
          <a:xfrm>
            <a:off x="340572" y="1557538"/>
            <a:ext cx="45914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Gradient Checkpointing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803F9B-FA7F-9B10-4A9A-AB2F47BB65DE}"/>
              </a:ext>
            </a:extLst>
          </p:cNvPr>
          <p:cNvSpPr txBox="1"/>
          <p:nvPr/>
        </p:nvSpPr>
        <p:spPr>
          <a:xfrm>
            <a:off x="1979712" y="1050288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주요 기술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3E8A44-6C62-83CB-0B43-56C4E5AD5DD5}"/>
              </a:ext>
            </a:extLst>
          </p:cNvPr>
          <p:cNvSpPr/>
          <p:nvPr/>
        </p:nvSpPr>
        <p:spPr>
          <a:xfrm>
            <a:off x="179512" y="1419621"/>
            <a:ext cx="4824536" cy="3384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1C417C-BC1C-52B1-22EF-7AE94E47CB11}"/>
              </a:ext>
            </a:extLst>
          </p:cNvPr>
          <p:cNvSpPr txBox="1"/>
          <p:nvPr/>
        </p:nvSpPr>
        <p:spPr>
          <a:xfrm>
            <a:off x="5165108" y="1419620"/>
            <a:ext cx="386026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Forward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때 이전 연산 결과를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checkpoint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외에 모두 버리고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0"/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0"/>
            <a:r>
              <a:rPr lang="en-US" altLang="ko-KR" sz="2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Backword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때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checkpoint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부터 다시 계산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 descr="스크린샷, 원, 라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4D8984-AE65-2439-E0BA-2048B4CD49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71" y="2211710"/>
            <a:ext cx="4629018" cy="1224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379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EB0A7-0883-2661-7586-E31A5712B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B661C1-3695-4143-E8EC-CC802F163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DeepSpeed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64641B-C76F-3FD3-9F91-A4655EDFE369}"/>
              </a:ext>
            </a:extLst>
          </p:cNvPr>
          <p:cNvSpPr txBox="1"/>
          <p:nvPr/>
        </p:nvSpPr>
        <p:spPr>
          <a:xfrm>
            <a:off x="340572" y="1557538"/>
            <a:ext cx="45914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Mixed Precision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A7E487-1429-5DB7-849D-56A9CB45EE08}"/>
              </a:ext>
            </a:extLst>
          </p:cNvPr>
          <p:cNvSpPr txBox="1"/>
          <p:nvPr/>
        </p:nvSpPr>
        <p:spPr>
          <a:xfrm>
            <a:off x="1979712" y="1050288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주요 기술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B37AAD0-46E4-B2D2-031A-31088F1398EE}"/>
              </a:ext>
            </a:extLst>
          </p:cNvPr>
          <p:cNvSpPr/>
          <p:nvPr/>
        </p:nvSpPr>
        <p:spPr>
          <a:xfrm>
            <a:off x="179512" y="1419621"/>
            <a:ext cx="4824536" cy="3384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32417D1-EA6E-B456-3818-665814464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99" y="2211710"/>
            <a:ext cx="4583562" cy="2155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D76F4F-8F5B-52FF-C65B-F08E15D34499}"/>
              </a:ext>
            </a:extLst>
          </p:cNvPr>
          <p:cNvSpPr txBox="1"/>
          <p:nvPr/>
        </p:nvSpPr>
        <p:spPr>
          <a:xfrm>
            <a:off x="5381131" y="2234646"/>
            <a:ext cx="34628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FP16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방식과 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FP32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방식을 합쳐 놓은 방식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대부분의 계산 및 저장은 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FP16</a:t>
            </a:r>
          </a:p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Loss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softmax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FP32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계산</a:t>
            </a:r>
            <a:endParaRPr lang="ko-KR" altLang="en-US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46737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ADBBB-3828-6854-EB1E-1CA1A22C3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079AA3-9F09-7F91-93D4-C91CB0FB64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QLoRA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24707F-0327-C431-D97F-0C6477DB5779}"/>
              </a:ext>
            </a:extLst>
          </p:cNvPr>
          <p:cNvSpPr txBox="1"/>
          <p:nvPr/>
        </p:nvSpPr>
        <p:spPr>
          <a:xfrm>
            <a:off x="4211960" y="1707653"/>
            <a:ext cx="4824536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PEFT(Parameter-Efficient Fine-Tuning)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방법 중 하나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2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QLoRA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추가된 기법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AutoNum type="arabicPeriod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4bit </a:t>
            </a:r>
            <a:r>
              <a:rPr lang="en-US" altLang="ko-KR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NormalFloat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양자화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(NF4)</a:t>
            </a:r>
          </a:p>
          <a:p>
            <a:pPr marL="342900" indent="-342900">
              <a:buAutoNum type="arabicPeriod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이중 양자화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(Double Quantization)</a:t>
            </a:r>
          </a:p>
          <a:p>
            <a:pPr marL="342900" indent="-342900">
              <a:buAutoNum type="arabicPeriod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페이징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(Paged Optimizer)</a:t>
            </a:r>
          </a:p>
        </p:txBody>
      </p:sp>
      <p:pic>
        <p:nvPicPr>
          <p:cNvPr id="5" name="Picture 2" descr="논문 리뷰] LORA: LOW-RANK ADAPTATION OF LARGE LANGUAGE MODELS">
            <a:extLst>
              <a:ext uri="{FF2B5EF4-FFF2-40B4-BE49-F238E27FC236}">
                <a16:creationId xmlns:a16="http://schemas.microsoft.com/office/drawing/2014/main" id="{43C4B20A-51C1-BE61-972D-AFE5BEEF71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1354874"/>
            <a:ext cx="3770596" cy="2952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78803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D415F-47C1-398E-EEC9-4E9C779A9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846254-62DD-E76A-84DF-CF26F4A68E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QLoRA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CC0779-DFDA-8A50-67F4-BF4CEB2AD27B}"/>
              </a:ext>
            </a:extLst>
          </p:cNvPr>
          <p:cNvSpPr txBox="1"/>
          <p:nvPr/>
        </p:nvSpPr>
        <p:spPr>
          <a:xfrm>
            <a:off x="4211960" y="1707653"/>
            <a:ext cx="482453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4bit </a:t>
            </a:r>
            <a:r>
              <a:rPr kumimoji="0" lang="en-US" altLang="ko-KR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NormalFloat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양자화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(NF4)</a:t>
            </a:r>
            <a:endParaRPr lang="en-US" altLang="ko-KR" sz="2000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기존 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4bit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양자화는 선형적으로 범위를 나눴지만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endParaRPr kumimoji="0" lang="en-US" altLang="ko-KR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altLang="ko-KR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NF4</a:t>
            </a:r>
            <a:r>
              <a:rPr kumimoji="0" lang="ko-KR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는 정규분포에 맞춰 </a:t>
            </a:r>
            <a:r>
              <a:rPr kumimoji="0" lang="en-US" altLang="ko-KR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4bit </a:t>
            </a:r>
            <a:r>
              <a:rPr kumimoji="0" lang="ko-KR" altLang="en-US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양자화하는</a:t>
            </a:r>
            <a:r>
              <a:rPr kumimoji="0" lang="ko-KR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방식</a:t>
            </a:r>
            <a:endParaRPr kumimoji="0" lang="en-US" altLang="ko-KR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1472166-F735-F533-BA78-61B665730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51" y="1360709"/>
            <a:ext cx="3882822" cy="2817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1615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4A100-3569-A3DB-3266-9BDC9A1FB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A3D9DA-6B03-D045-178B-4AF93D7F50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QLoRA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EC8F3-9088-8319-FFCA-655FD379DC24}"/>
              </a:ext>
            </a:extLst>
          </p:cNvPr>
          <p:cNvSpPr txBox="1"/>
          <p:nvPr/>
        </p:nvSpPr>
        <p:spPr>
          <a:xfrm>
            <a:off x="4702875" y="2039867"/>
            <a:ext cx="4248472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2.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이중 양자화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(Double Quantization)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altLang="ko-KR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NF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 </a:t>
            </a:r>
            <a:r>
              <a:rPr lang="ko-KR" alt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양자화에 필요한 양자화 상수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(Quantization Constant)</a:t>
            </a:r>
            <a:r>
              <a:rPr lang="ko-KR" alt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를 한 번 더 </a:t>
            </a:r>
            <a:r>
              <a:rPr lang="ko-KR" altLang="en-US" sz="1600" dirty="0" err="1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양자화하여</a:t>
            </a:r>
            <a:r>
              <a:rPr lang="ko-KR" alt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메모리 절약</a:t>
            </a:r>
            <a:endParaRPr lang="en-US" altLang="ko-KR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13699BD-2B80-449A-B710-FEE1280FAA72}"/>
                  </a:ext>
                </a:extLst>
              </p:cNvPr>
              <p:cNvSpPr txBox="1"/>
              <p:nvPr/>
            </p:nvSpPr>
            <p:spPr>
              <a:xfrm>
                <a:off x="611560" y="2139702"/>
                <a:ext cx="3024336" cy="7619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𝑟𝑜𝑢𝑛𝑑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num>
                            <m:den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2800" b="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13699BD-2B80-449A-B710-FEE1280FAA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2139702"/>
                <a:ext cx="3024336" cy="76194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One stop guide for QLoRA. This article is part of my LLMs series… | by  Tayyib Ul Hassan Gondal | Medium">
            <a:extLst>
              <a:ext uri="{FF2B5EF4-FFF2-40B4-BE49-F238E27FC236}">
                <a16:creationId xmlns:a16="http://schemas.microsoft.com/office/drawing/2014/main" id="{CCFC8441-E8F6-05A9-1B4C-09CE1E071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815567"/>
            <a:ext cx="4287720" cy="2172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0648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3305D-EFD0-EFF8-780D-B86BAF888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63891BF-21AB-B76C-7DAF-12A06CF38C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QLoRA</a:t>
            </a:r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904FAD-AD8F-A02C-FE01-4763B23BBBD2}"/>
              </a:ext>
            </a:extLst>
          </p:cNvPr>
          <p:cNvSpPr txBox="1"/>
          <p:nvPr/>
        </p:nvSpPr>
        <p:spPr>
          <a:xfrm>
            <a:off x="4211960" y="1779662"/>
            <a:ext cx="482453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</a:t>
            </a:r>
            <a:r>
              <a:rPr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페이징</a:t>
            </a:r>
            <a:r>
              <a:rPr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(Paged Optimizer)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altLang="ko-KR" sz="16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LoRA</a:t>
            </a:r>
            <a:r>
              <a:rPr kumimoji="0" lang="en-US" altLang="ko-KR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fine-tuning </a:t>
            </a:r>
            <a:r>
              <a:rPr kumimoji="0" lang="ko-KR" alt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중에는 </a:t>
            </a:r>
            <a:r>
              <a:rPr kumimoji="0" lang="en-US" altLang="ko-KR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optimizer</a:t>
            </a:r>
            <a:r>
              <a:rPr kumimoji="0" lang="ko-KR" alt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가 커짐</a:t>
            </a:r>
            <a:endParaRPr lang="en-US" altLang="ko-KR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자주 쓰는 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optimizer</a:t>
            </a:r>
            <a:r>
              <a:rPr lang="ko-KR" alt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GPU</a:t>
            </a:r>
            <a:r>
              <a:rPr lang="ko-KR" alt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 빈도가 낮은 것은 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 </a:t>
            </a:r>
            <a:r>
              <a:rPr lang="ko-KR" alt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메모리에 저장</a:t>
            </a:r>
            <a:endParaRPr kumimoji="0" lang="en-US" altLang="ko-KR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2">
            <a:extLst>
              <a:ext uri="{FF2B5EF4-FFF2-40B4-BE49-F238E27FC236}">
                <a16:creationId xmlns:a16="http://schemas.microsoft.com/office/drawing/2014/main" id="{D8DA4D35-60F0-A94E-73A1-B623EED47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/>
          <a:stretch/>
        </p:blipFill>
        <p:spPr>
          <a:xfrm>
            <a:off x="88699" y="2413830"/>
            <a:ext cx="2102136" cy="2102136"/>
          </a:xfrm>
          <a:prstGeom prst="rect">
            <a:avLst/>
          </a:prstGeom>
        </p:spPr>
      </p:pic>
      <p:pic>
        <p:nvPicPr>
          <p:cNvPr id="6" name="Picture 4" descr="Cpu 사진 | Unsplash에서 무료 이미지 다운로드">
            <a:extLst>
              <a:ext uri="{FF2B5EF4-FFF2-40B4-BE49-F238E27FC236}">
                <a16:creationId xmlns:a16="http://schemas.microsoft.com/office/drawing/2014/main" id="{DCB9942A-1F50-99E3-9322-E8D55B0E6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5110" y="1454316"/>
            <a:ext cx="173134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EF2A40D-E227-D5AF-D02B-10D4EC43079F}"/>
              </a:ext>
            </a:extLst>
          </p:cNvPr>
          <p:cNvSpPr/>
          <p:nvPr/>
        </p:nvSpPr>
        <p:spPr>
          <a:xfrm>
            <a:off x="1139767" y="3404032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D85ECF7-2D1E-F16B-1B89-1473F73AE782}"/>
              </a:ext>
            </a:extLst>
          </p:cNvPr>
          <p:cNvSpPr/>
          <p:nvPr/>
        </p:nvSpPr>
        <p:spPr>
          <a:xfrm>
            <a:off x="1209324" y="3464898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F54D81A-0B84-246F-29FD-6939EBE59052}"/>
              </a:ext>
            </a:extLst>
          </p:cNvPr>
          <p:cNvSpPr/>
          <p:nvPr/>
        </p:nvSpPr>
        <p:spPr>
          <a:xfrm>
            <a:off x="1278882" y="3525764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7E05AA9-7A54-32F2-3860-15B352F85680}"/>
              </a:ext>
            </a:extLst>
          </p:cNvPr>
          <p:cNvSpPr/>
          <p:nvPr/>
        </p:nvSpPr>
        <p:spPr>
          <a:xfrm>
            <a:off x="1348439" y="3586630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C7113D2-65F5-119F-8AFD-AC8684944EF3}"/>
              </a:ext>
            </a:extLst>
          </p:cNvPr>
          <p:cNvSpPr/>
          <p:nvPr/>
        </p:nvSpPr>
        <p:spPr>
          <a:xfrm>
            <a:off x="1292167" y="3556432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C2F7D9D-B17B-C4CE-2967-1700A7F91387}"/>
              </a:ext>
            </a:extLst>
          </p:cNvPr>
          <p:cNvSpPr/>
          <p:nvPr/>
        </p:nvSpPr>
        <p:spPr>
          <a:xfrm>
            <a:off x="1361724" y="3617298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6C55EFD-15D4-8126-E1B9-BC52D9BF91D9}"/>
              </a:ext>
            </a:extLst>
          </p:cNvPr>
          <p:cNvSpPr/>
          <p:nvPr/>
        </p:nvSpPr>
        <p:spPr>
          <a:xfrm>
            <a:off x="1431282" y="3678164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D7C258-67FB-6136-13EA-F8C653186185}"/>
              </a:ext>
            </a:extLst>
          </p:cNvPr>
          <p:cNvSpPr/>
          <p:nvPr/>
        </p:nvSpPr>
        <p:spPr>
          <a:xfrm>
            <a:off x="1500839" y="3739030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B154D11-09FA-19AE-3899-3271A62BF063}"/>
              </a:ext>
            </a:extLst>
          </p:cNvPr>
          <p:cNvSpPr/>
          <p:nvPr/>
        </p:nvSpPr>
        <p:spPr>
          <a:xfrm>
            <a:off x="1444567" y="3708832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57D6DF-CD56-374B-B584-DC1F8A26301C}"/>
              </a:ext>
            </a:extLst>
          </p:cNvPr>
          <p:cNvSpPr/>
          <p:nvPr/>
        </p:nvSpPr>
        <p:spPr>
          <a:xfrm>
            <a:off x="1514124" y="3769698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DF11ACA-9A01-495D-C793-A4428553CEF7}"/>
              </a:ext>
            </a:extLst>
          </p:cNvPr>
          <p:cNvSpPr/>
          <p:nvPr/>
        </p:nvSpPr>
        <p:spPr>
          <a:xfrm>
            <a:off x="1583682" y="3830564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38EF83-9674-737F-87F6-0D4A4FB5CE92}"/>
              </a:ext>
            </a:extLst>
          </p:cNvPr>
          <p:cNvSpPr/>
          <p:nvPr/>
        </p:nvSpPr>
        <p:spPr>
          <a:xfrm>
            <a:off x="1653239" y="3891430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2884574-1701-01E3-25F1-419657BFE378}"/>
              </a:ext>
            </a:extLst>
          </p:cNvPr>
          <p:cNvSpPr/>
          <p:nvPr/>
        </p:nvSpPr>
        <p:spPr>
          <a:xfrm>
            <a:off x="1596967" y="3861232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988E350-FDA1-B00B-AFA9-6019B31CD9BF}"/>
              </a:ext>
            </a:extLst>
          </p:cNvPr>
          <p:cNvSpPr/>
          <p:nvPr/>
        </p:nvSpPr>
        <p:spPr>
          <a:xfrm>
            <a:off x="1666524" y="3922098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9DEA2AA-F58F-DCFC-49D5-8120AB0E6F66}"/>
              </a:ext>
            </a:extLst>
          </p:cNvPr>
          <p:cNvSpPr/>
          <p:nvPr/>
        </p:nvSpPr>
        <p:spPr>
          <a:xfrm>
            <a:off x="1736082" y="3982964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7E6D87E-41B1-0708-F222-8346AAEF21F2}"/>
              </a:ext>
            </a:extLst>
          </p:cNvPr>
          <p:cNvSpPr/>
          <p:nvPr/>
        </p:nvSpPr>
        <p:spPr>
          <a:xfrm>
            <a:off x="1805639" y="4043830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F7D2F0D-5D30-48D4-5FC0-B779B296B238}"/>
              </a:ext>
            </a:extLst>
          </p:cNvPr>
          <p:cNvSpPr/>
          <p:nvPr/>
        </p:nvSpPr>
        <p:spPr>
          <a:xfrm>
            <a:off x="1749367" y="4013632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D6A130D-CF98-8A81-FBFC-2D271A3B18CE}"/>
              </a:ext>
            </a:extLst>
          </p:cNvPr>
          <p:cNvSpPr/>
          <p:nvPr/>
        </p:nvSpPr>
        <p:spPr>
          <a:xfrm>
            <a:off x="1818924" y="4074498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6714530-7509-0227-A969-17DB3A0F948E}"/>
              </a:ext>
            </a:extLst>
          </p:cNvPr>
          <p:cNvSpPr/>
          <p:nvPr/>
        </p:nvSpPr>
        <p:spPr>
          <a:xfrm>
            <a:off x="1888482" y="4135364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C3ABB69-C761-3D89-E38B-06EADF86FB18}"/>
              </a:ext>
            </a:extLst>
          </p:cNvPr>
          <p:cNvSpPr/>
          <p:nvPr/>
        </p:nvSpPr>
        <p:spPr>
          <a:xfrm>
            <a:off x="1958039" y="4196230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3C3CC7E-50A0-0C8F-B89C-F3B521F1E3F0}"/>
              </a:ext>
            </a:extLst>
          </p:cNvPr>
          <p:cNvSpPr/>
          <p:nvPr/>
        </p:nvSpPr>
        <p:spPr>
          <a:xfrm>
            <a:off x="2719795" y="2490497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6D1A1D6-A6D9-7139-69D6-028C7A4EC311}"/>
              </a:ext>
            </a:extLst>
          </p:cNvPr>
          <p:cNvSpPr/>
          <p:nvPr/>
        </p:nvSpPr>
        <p:spPr>
          <a:xfrm>
            <a:off x="2745520" y="2550343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BDFE8CE-3823-7849-3174-CD84A60E0A22}"/>
              </a:ext>
            </a:extLst>
          </p:cNvPr>
          <p:cNvSpPr/>
          <p:nvPr/>
        </p:nvSpPr>
        <p:spPr>
          <a:xfrm>
            <a:off x="2768171" y="2557618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9877464-9347-6823-F3D8-7414141CDCD8}"/>
              </a:ext>
            </a:extLst>
          </p:cNvPr>
          <p:cNvSpPr/>
          <p:nvPr/>
        </p:nvSpPr>
        <p:spPr>
          <a:xfrm>
            <a:off x="2793896" y="2617464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C57932C-675C-4FA6-FF0D-AD0389A497D4}"/>
              </a:ext>
            </a:extLst>
          </p:cNvPr>
          <p:cNvSpPr/>
          <p:nvPr/>
        </p:nvSpPr>
        <p:spPr>
          <a:xfrm>
            <a:off x="2872195" y="2642897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38B2622-552E-613E-C0F0-C5DE62C5B65B}"/>
              </a:ext>
            </a:extLst>
          </p:cNvPr>
          <p:cNvSpPr/>
          <p:nvPr/>
        </p:nvSpPr>
        <p:spPr>
          <a:xfrm>
            <a:off x="2897920" y="2702743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70D5749-6F5D-7E8D-4804-815018B5405E}"/>
              </a:ext>
            </a:extLst>
          </p:cNvPr>
          <p:cNvSpPr/>
          <p:nvPr/>
        </p:nvSpPr>
        <p:spPr>
          <a:xfrm>
            <a:off x="2920571" y="2710018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4556FEB-9525-8A1F-C346-9ED28E1D5122}"/>
              </a:ext>
            </a:extLst>
          </p:cNvPr>
          <p:cNvSpPr/>
          <p:nvPr/>
        </p:nvSpPr>
        <p:spPr>
          <a:xfrm>
            <a:off x="2946296" y="2769864"/>
            <a:ext cx="911953" cy="233934"/>
          </a:xfrm>
          <a:prstGeom prst="rect">
            <a:avLst/>
          </a:prstGeom>
          <a:solidFill>
            <a:srgbClr val="9AD3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옵티마이저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64EC375-6874-4A73-B245-32DA821371DC}"/>
              </a:ext>
            </a:extLst>
          </p:cNvPr>
          <p:cNvSpPr/>
          <p:nvPr/>
        </p:nvSpPr>
        <p:spPr>
          <a:xfrm>
            <a:off x="179512" y="1275606"/>
            <a:ext cx="3816424" cy="3384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782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Thank you</a:t>
            </a:r>
            <a:endParaRPr lang="ko-KR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lvl="0"/>
            <a:r>
              <a:rPr lang="en-US" altLang="ko-KR" dirty="0"/>
              <a:t>Insert the title of </a:t>
            </a:r>
          </a:p>
          <a:p>
            <a:pPr lvl="0"/>
            <a:r>
              <a:rPr lang="en-US" altLang="ko-KR" dirty="0"/>
              <a:t>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61455909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ALLPPT-COLOR-A2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8B2A3"/>
      </a:accent1>
      <a:accent2>
        <a:srgbClr val="A4B4EA"/>
      </a:accent2>
      <a:accent3>
        <a:srgbClr val="98DFBB"/>
      </a:accent3>
      <a:accent4>
        <a:srgbClr val="9AD3E9"/>
      </a:accent4>
      <a:accent5>
        <a:srgbClr val="576868"/>
      </a:accent5>
      <a:accent6>
        <a:srgbClr val="CBCBCB"/>
      </a:accent6>
      <a:hlink>
        <a:srgbClr val="3F3F3F"/>
      </a:hlink>
      <a:folHlink>
        <a:srgbClr val="3F3F3F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tents Slide Master">
  <a:themeElements>
    <a:clrScheme name="ALLPPT-COLOR-A2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8B2A3"/>
      </a:accent1>
      <a:accent2>
        <a:srgbClr val="A4B4EA"/>
      </a:accent2>
      <a:accent3>
        <a:srgbClr val="9AD3E9"/>
      </a:accent3>
      <a:accent4>
        <a:srgbClr val="98DFBB"/>
      </a:accent4>
      <a:accent5>
        <a:srgbClr val="CBCBCB"/>
      </a:accent5>
      <a:accent6>
        <a:srgbClr val="576868"/>
      </a:accent6>
      <a:hlink>
        <a:srgbClr val="3F3F3F"/>
      </a:hlink>
      <a:folHlink>
        <a:srgbClr val="3F3F3F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9AD3E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Section Break Slide Master">
  <a:themeElements>
    <a:clrScheme name="ALLPPT-COLOR-A2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8B2A3"/>
      </a:accent1>
      <a:accent2>
        <a:srgbClr val="A4B4EA"/>
      </a:accent2>
      <a:accent3>
        <a:srgbClr val="9AD3E9"/>
      </a:accent3>
      <a:accent4>
        <a:srgbClr val="98DFBB"/>
      </a:accent4>
      <a:accent5>
        <a:srgbClr val="CBCBCB"/>
      </a:accent5>
      <a:accent6>
        <a:srgbClr val="576868"/>
      </a:accent6>
      <a:hlink>
        <a:srgbClr val="3F3F3F"/>
      </a:hlink>
      <a:folHlink>
        <a:srgbClr val="3F3F3F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4082</TotalTime>
  <Words>366</Words>
  <Application>Microsoft Office PowerPoint</Application>
  <PresentationFormat>화면 슬라이드 쇼(16:9)</PresentationFormat>
  <Paragraphs>141</Paragraphs>
  <Slides>16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3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-apple-system</vt:lpstr>
      <vt:lpstr>Arial Unicode MS</vt:lpstr>
      <vt:lpstr>맑은 고딕</vt:lpstr>
      <vt:lpstr>Arial</vt:lpstr>
      <vt:lpstr>Cambria Math</vt:lpstr>
      <vt:lpstr>Wingdings</vt:lpstr>
      <vt:lpstr>Cover and End Slide Master</vt:lpstr>
      <vt:lpstr>Contents Slide Master</vt:lpstr>
      <vt:lpstr>Section Break Slide Master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GoogleSlidesPPT.com;Allppt.com</dc:creator>
  <cp:lastModifiedBy>user</cp:lastModifiedBy>
  <cp:revision>214</cp:revision>
  <dcterms:created xsi:type="dcterms:W3CDTF">2016-12-05T23:26:54Z</dcterms:created>
  <dcterms:modified xsi:type="dcterms:W3CDTF">2026-01-21T00:55:49Z</dcterms:modified>
</cp:coreProperties>
</file>