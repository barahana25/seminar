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20"/>
  </p:notesMasterIdLst>
  <p:sldIdLst>
    <p:sldId id="256" r:id="rId4"/>
    <p:sldId id="261" r:id="rId5"/>
    <p:sldId id="265" r:id="rId6"/>
    <p:sldId id="317" r:id="rId7"/>
    <p:sldId id="303" r:id="rId8"/>
    <p:sldId id="306" r:id="rId9"/>
    <p:sldId id="311" r:id="rId10"/>
    <p:sldId id="309" r:id="rId11"/>
    <p:sldId id="310" r:id="rId12"/>
    <p:sldId id="312" r:id="rId13"/>
    <p:sldId id="313" r:id="rId14"/>
    <p:sldId id="308" r:id="rId15"/>
    <p:sldId id="314" r:id="rId16"/>
    <p:sldId id="315" r:id="rId17"/>
    <p:sldId id="316" r:id="rId18"/>
    <p:sldId id="262" r:id="rId1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3E9"/>
    <a:srgbClr val="98DFBB"/>
    <a:srgbClr val="F8B2A3"/>
    <a:srgbClr val="A4B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72" autoAdjust="0"/>
  </p:normalViewPr>
  <p:slideViewPr>
    <p:cSldViewPr>
      <p:cViewPr varScale="1">
        <p:scale>
          <a:sx n="138" d="100"/>
          <a:sy n="138" d="100"/>
        </p:scale>
        <p:origin x="300" y="72"/>
      </p:cViewPr>
      <p:guideLst>
        <p:guide orient="horz" pos="184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4780-4742-4AF7-B9F6-29387D06C87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0E160-F603-41F3-A192-DC959577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4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19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04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>
                <a:latin typeface="맑은 고딕" panose="020B0503020000020004" pitchFamily="50" charset="-127"/>
                <a:ea typeface="+mn-ea"/>
              </a:rPr>
              <a:t>1. 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학습시킬 때는 </a:t>
            </a:r>
            <a:r>
              <a:rPr lang="en-US" altLang="ko-KR" sz="1200" dirty="0">
                <a:latin typeface="맑은 고딕" panose="020B0503020000020004" pitchFamily="50" charset="-127"/>
                <a:ea typeface="+mn-ea"/>
              </a:rPr>
              <a:t>fp16 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으로 변환하여 손실 계산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+mn-ea"/>
              </a:rPr>
              <a:t>2. </a:t>
            </a:r>
            <a:r>
              <a:rPr lang="ko-KR" altLang="en-US" sz="1200" dirty="0" err="1">
                <a:latin typeface="맑은 고딕" panose="020B0503020000020004" pitchFamily="50" charset="-127"/>
                <a:ea typeface="+mn-ea"/>
              </a:rPr>
              <a:t>그라디언트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+mn-ea"/>
              </a:rPr>
              <a:t>fp16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으로 </a:t>
            </a:r>
            <a:r>
              <a:rPr lang="ko-KR" altLang="en-US" sz="1200" dirty="0" err="1">
                <a:latin typeface="맑은 고딕" panose="020B0503020000020004" pitchFamily="50" charset="-127"/>
                <a:ea typeface="+mn-ea"/>
              </a:rPr>
              <a:t>역전파</a:t>
            </a:r>
            <a:endParaRPr lang="ko-KR" altLang="en-US" sz="1200" dirty="0">
              <a:latin typeface="맑은 고딕" panose="020B0503020000020004" pitchFamily="50" charset="-127"/>
              <a:ea typeface="+mn-ea"/>
            </a:endParaRPr>
          </a:p>
          <a:p>
            <a:r>
              <a:rPr lang="en-US" altLang="ko-KR" sz="1200" dirty="0">
                <a:latin typeface="맑은 고딕" panose="020B0503020000020004" pitchFamily="50" charset="-127"/>
                <a:ea typeface="+mn-ea"/>
              </a:rPr>
              <a:t>3. fp32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로 </a:t>
            </a:r>
            <a:r>
              <a:rPr lang="ko-KR" altLang="en-US" sz="1200" dirty="0" err="1">
                <a:latin typeface="맑은 고딕" panose="020B0503020000020004" pitchFamily="50" charset="-127"/>
                <a:ea typeface="+mn-ea"/>
              </a:rPr>
              <a:t>그라디언트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 복사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+mn-ea"/>
              </a:rPr>
              <a:t>4. fp32 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마스터 가중치에 업데이트 적용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+mn-ea"/>
              </a:rPr>
              <a:t>5. 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최종적으로 학습이 끝나면 </a:t>
            </a:r>
            <a:r>
              <a:rPr lang="en-US" altLang="ko-KR" sz="1200" dirty="0">
                <a:latin typeface="맑은 고딕" panose="020B0503020000020004" pitchFamily="50" charset="-127"/>
                <a:ea typeface="+mn-ea"/>
              </a:rPr>
              <a:t>fp32 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마스터 가중치를 </a:t>
            </a:r>
            <a:r>
              <a:rPr lang="en-US" altLang="ko-KR" sz="1200" dirty="0">
                <a:latin typeface="맑은 고딕" panose="020B0503020000020004" pitchFamily="50" charset="-127"/>
                <a:ea typeface="+mn-ea"/>
              </a:rPr>
              <a:t>fp16</a:t>
            </a:r>
            <a:r>
              <a:rPr lang="ko-KR" altLang="en-US" sz="1200" dirty="0">
                <a:latin typeface="맑은 고딕" panose="020B0503020000020004" pitchFamily="50" charset="-127"/>
                <a:ea typeface="+mn-ea"/>
              </a:rPr>
              <a:t> 모델로 저장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269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23928" y="2643759"/>
            <a:ext cx="5220072" cy="108012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z="3600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23928" y="3723878"/>
            <a:ext cx="52199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</a:t>
            </a:r>
          </a:p>
          <a:p>
            <a:pPr lvl="0"/>
            <a:r>
              <a:rPr lang="en-US" altLang="ko-KR" dirty="0"/>
              <a:t>PRESENTATION HERE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55E6E-2890-481F-AE15-CDC79CD838DA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                      </a:t>
            </a:r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0D7C9D-2950-4F0D-9947-7E4F8FE66C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490" y="49633"/>
            <a:ext cx="1282640" cy="128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7971">
            <a:off x="2873932" y="1562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7839">
            <a:off x="3005459" y="3443641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14606">
            <a:off x="1967897" y="2192112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62721" flipH="1">
            <a:off x="2110757" y="80509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64253" flipH="1">
            <a:off x="3934583" y="1426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4798">
            <a:off x="5618205" y="238471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74931">
            <a:off x="5463157" y="73615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9549">
            <a:off x="4788024" y="3370715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2254580" y="248388"/>
            <a:ext cx="4634840" cy="4646724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595313" y="1758619"/>
              <a:ext cx="1626263" cy="1626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lt"/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03848" y="2101602"/>
            <a:ext cx="2736303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700" y="2677666"/>
            <a:ext cx="2736303" cy="43204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2050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624792"/>
            <a:ext cx="1407408" cy="151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A5F54F-2348-4473-82E1-BFE60E049C97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43808" y="377122"/>
            <a:ext cx="3456384" cy="3465247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829098" y="3829794"/>
            <a:ext cx="3456384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Welcome!!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828950" y="4443958"/>
            <a:ext cx="345638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746CEC-C010-40FB-A31C-D4A95DEE5115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203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9DE26D-6639-4546-96A5-E0EE2A312FF3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0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749EE9-2723-4B84-AFDB-858BDA36301B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</a:t>
            </a:r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63568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842131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34733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27011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Block Arc 1"/>
          <p:cNvSpPr/>
          <p:nvPr userDrawn="1"/>
        </p:nvSpPr>
        <p:spPr>
          <a:xfrm>
            <a:off x="683568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Block Arc 11"/>
          <p:cNvSpPr/>
          <p:nvPr userDrawn="1"/>
        </p:nvSpPr>
        <p:spPr>
          <a:xfrm>
            <a:off x="2671382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Block Arc 12"/>
          <p:cNvSpPr/>
          <p:nvPr userDrawn="1"/>
        </p:nvSpPr>
        <p:spPr>
          <a:xfrm>
            <a:off x="4659196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Block Arc 13"/>
          <p:cNvSpPr/>
          <p:nvPr userDrawn="1"/>
        </p:nvSpPr>
        <p:spPr>
          <a:xfrm>
            <a:off x="6647011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DBECCA6-8618-46C3-A8D4-3B6399CCEF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D40A599-6D66-4DC9-82BB-52C171B56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33540-D188-4ED2-842B-34BCBF6015C8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9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32AA192-7133-43FD-AFD7-CCFE80BE754D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771800" y="1404764"/>
            <a:ext cx="6372200" cy="30243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6C3AF05-0B8F-485E-983F-1B40340199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183D1CC-DF98-45E3-B7CE-601603E40D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75FB7-0578-4803-9742-A5F556AD9F01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31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3059832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084000" y="2947500"/>
            <a:ext cx="3060000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39255-9B8F-4462-A7FE-3E72045BAB9D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47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28392" y="0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020272" y="1923678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AAE106-F942-47F1-B65C-59B172E88EAA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251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17858" y="1275606"/>
            <a:ext cx="2448545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339542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60954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DA4CE02-F7F3-4BCD-B8DB-4DFD03965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9A54B34-6F96-4E3E-B72E-E680E3CE27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77962-8117-49AD-9324-1D8E477D02BB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3997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8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582656" y="1374406"/>
            <a:ext cx="2700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820964" y="1374406"/>
            <a:ext cx="2736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F3CBFE9-6225-4EAB-9415-3558F6BE9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E9189EF-3C10-45A2-8749-4187192ACE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5AF8D-9837-4185-AA5F-0E08674FE199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894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ut 3"/>
          <p:cNvSpPr/>
          <p:nvPr userDrawn="1"/>
        </p:nvSpPr>
        <p:spPr>
          <a:xfrm>
            <a:off x="2847111" y="1179745"/>
            <a:ext cx="3401564" cy="3401564"/>
          </a:xfrm>
          <a:prstGeom prst="donut">
            <a:avLst>
              <a:gd name="adj" fmla="val 13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B4F25E9-AA8C-4BD3-BF1F-56D20DF8D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0BDE80-4E1C-47DE-8168-381888FDC3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E8A3CB-0AB4-417C-9F8E-176DF4D3C840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204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3800" y="2230378"/>
            <a:ext cx="49302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213800" y="2703954"/>
            <a:ext cx="49302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39" y="3651870"/>
            <a:ext cx="1013895" cy="101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950740"/>
            <a:ext cx="648072" cy="64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19818"/>
            <a:ext cx="442142" cy="44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779200"/>
            <a:ext cx="360040" cy="36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 userDrawn="1"/>
        </p:nvGrpSpPr>
        <p:grpSpPr>
          <a:xfrm>
            <a:off x="1115616" y="1275607"/>
            <a:ext cx="2585656" cy="2592286"/>
            <a:chOff x="1115616" y="1275607"/>
            <a:chExt cx="2585656" cy="2592286"/>
          </a:xfrm>
        </p:grpSpPr>
        <p:pic>
          <p:nvPicPr>
            <p:cNvPr id="1026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3578808"/>
            <a:ext cx="1475656" cy="1592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26854" y="-51527"/>
            <a:ext cx="879830" cy="9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4B3F65-D174-473A-B9A3-7D405B29D5AA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52" r:id="rId4"/>
    <p:sldLayoutId id="2147483661" r:id="rId5"/>
    <p:sldLayoutId id="2147483656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23928" y="2427734"/>
            <a:ext cx="5220072" cy="1296145"/>
          </a:xfrm>
        </p:spPr>
        <p:txBody>
          <a:bodyPr/>
          <a:lstStyle/>
          <a:p>
            <a:pPr lvl="0"/>
            <a:r>
              <a:rPr lang="en-US" altLang="ko-KR" sz="2000" dirty="0"/>
              <a:t>Retrieval-Augmented Generation for Knowledge-Intensive NLP Tasks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2026.01.19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Ju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hyung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Lee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650519" y="2571750"/>
            <a:ext cx="129393" cy="1607036"/>
            <a:chOff x="3424672" y="2643758"/>
            <a:chExt cx="283232" cy="1584176"/>
          </a:xfrm>
        </p:grpSpPr>
        <p:sp>
          <p:nvSpPr>
            <p:cNvPr id="7" name="Rectangle 6"/>
            <p:cNvSpPr/>
            <p:nvPr userDrawn="1"/>
          </p:nvSpPr>
          <p:spPr>
            <a:xfrm>
              <a:off x="3635896" y="2643758"/>
              <a:ext cx="72008" cy="15841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3565490" y="2643758"/>
              <a:ext cx="72007" cy="15841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3495081" y="2643758"/>
              <a:ext cx="72007" cy="15841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3424672" y="2643758"/>
              <a:ext cx="72008" cy="15841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0" y="267494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Contents</a:t>
            </a:r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3C442904-EE3B-E5EF-911B-91AA5F286CC0}"/>
              </a:ext>
            </a:extLst>
          </p:cNvPr>
          <p:cNvGrpSpPr/>
          <p:nvPr/>
        </p:nvGrpSpPr>
        <p:grpSpPr>
          <a:xfrm>
            <a:off x="2267744" y="1059582"/>
            <a:ext cx="6552728" cy="914400"/>
            <a:chOff x="1151472" y="3187501"/>
            <a:chExt cx="6552728" cy="914400"/>
          </a:xfrm>
        </p:grpSpPr>
        <p:sp>
          <p:nvSpPr>
            <p:cNvPr id="10" name="Pentagon 4">
              <a:extLst>
                <a:ext uri="{FF2B5EF4-FFF2-40B4-BE49-F238E27FC236}">
                  <a16:creationId xmlns:a16="http://schemas.microsoft.com/office/drawing/2014/main" id="{C8CEFB58-812F-8091-CC14-0F285BBAF2D0}"/>
                </a:ext>
              </a:extLst>
            </p:cNvPr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0" name="Pentagon 5">
              <a:extLst>
                <a:ext uri="{FF2B5EF4-FFF2-40B4-BE49-F238E27FC236}">
                  <a16:creationId xmlns:a16="http://schemas.microsoft.com/office/drawing/2014/main" id="{C2950C05-9941-2F5F-6CA2-C52968AD93A6}"/>
                </a:ext>
              </a:extLst>
            </p:cNvPr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1" name="Diamond 6">
              <a:extLst>
                <a:ext uri="{FF2B5EF4-FFF2-40B4-BE49-F238E27FC236}">
                  <a16:creationId xmlns:a16="http://schemas.microsoft.com/office/drawing/2014/main" id="{D173F3D3-B3B7-BECE-B508-1448865CE186}"/>
                </a:ext>
              </a:extLst>
            </p:cNvPr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22" name="직사각형 39">
            <a:extLst>
              <a:ext uri="{FF2B5EF4-FFF2-40B4-BE49-F238E27FC236}">
                <a16:creationId xmlns:a16="http://schemas.microsoft.com/office/drawing/2014/main" id="{66E97B17-3382-ED5B-BEB2-BA36DEEBBC36}"/>
              </a:ext>
            </a:extLst>
          </p:cNvPr>
          <p:cNvSpPr/>
          <p:nvPr/>
        </p:nvSpPr>
        <p:spPr>
          <a:xfrm>
            <a:off x="2509438" y="1262927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1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23" name="Group 8">
            <a:extLst>
              <a:ext uri="{FF2B5EF4-FFF2-40B4-BE49-F238E27FC236}">
                <a16:creationId xmlns:a16="http://schemas.microsoft.com/office/drawing/2014/main" id="{F1D60D23-5B77-96A6-8DA6-D2761AAECA14}"/>
              </a:ext>
            </a:extLst>
          </p:cNvPr>
          <p:cNvGrpSpPr/>
          <p:nvPr/>
        </p:nvGrpSpPr>
        <p:grpSpPr>
          <a:xfrm>
            <a:off x="3275856" y="1283794"/>
            <a:ext cx="4859633" cy="502103"/>
            <a:chOff x="2196254" y="1825285"/>
            <a:chExt cx="4680002" cy="502103"/>
          </a:xfrm>
        </p:grpSpPr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783590D5-7130-21F9-01C8-1EB536E25F2C}"/>
                </a:ext>
              </a:extLst>
            </p:cNvPr>
            <p:cNvSpPr txBox="1"/>
            <p:nvPr/>
          </p:nvSpPr>
          <p:spPr bwMode="auto">
            <a:xfrm>
              <a:off x="2196254" y="1825285"/>
              <a:ext cx="4576856" cy="461665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Introduction</a:t>
              </a:r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078856E9-62A9-1FBD-247A-FEAE021EFD92}"/>
                </a:ext>
              </a:extLst>
            </p:cNvPr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11">
            <a:extLst>
              <a:ext uri="{FF2B5EF4-FFF2-40B4-BE49-F238E27FC236}">
                <a16:creationId xmlns:a16="http://schemas.microsoft.com/office/drawing/2014/main" id="{6FC63088-AEB3-C45B-2A87-802E6E19180D}"/>
              </a:ext>
            </a:extLst>
          </p:cNvPr>
          <p:cNvGrpSpPr/>
          <p:nvPr/>
        </p:nvGrpSpPr>
        <p:grpSpPr>
          <a:xfrm>
            <a:off x="2267744" y="1969713"/>
            <a:ext cx="6552728" cy="914400"/>
            <a:chOff x="1151472" y="3187501"/>
            <a:chExt cx="6552728" cy="914400"/>
          </a:xfrm>
        </p:grpSpPr>
        <p:sp>
          <p:nvSpPr>
            <p:cNvPr id="31" name="Pentagon 12">
              <a:extLst>
                <a:ext uri="{FF2B5EF4-FFF2-40B4-BE49-F238E27FC236}">
                  <a16:creationId xmlns:a16="http://schemas.microsoft.com/office/drawing/2014/main" id="{043F68B9-ECDB-D8F2-47ED-904611DCA4CB}"/>
                </a:ext>
              </a:extLst>
            </p:cNvPr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3" name="Pentagon 13">
              <a:extLst>
                <a:ext uri="{FF2B5EF4-FFF2-40B4-BE49-F238E27FC236}">
                  <a16:creationId xmlns:a16="http://schemas.microsoft.com/office/drawing/2014/main" id="{8691DD76-BCAC-A73E-EBDA-A2F9A6355911}"/>
                </a:ext>
              </a:extLst>
            </p:cNvPr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4" name="Diamond 14">
              <a:extLst>
                <a:ext uri="{FF2B5EF4-FFF2-40B4-BE49-F238E27FC236}">
                  <a16:creationId xmlns:a16="http://schemas.microsoft.com/office/drawing/2014/main" id="{A4181031-3E75-0E24-8F74-9B7803705E1F}"/>
                </a:ext>
              </a:extLst>
            </p:cNvPr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BBA61CB4-F0D3-7A1E-56A6-E1514FF70095}"/>
              </a:ext>
            </a:extLst>
          </p:cNvPr>
          <p:cNvGrpSpPr/>
          <p:nvPr/>
        </p:nvGrpSpPr>
        <p:grpSpPr>
          <a:xfrm>
            <a:off x="2261732" y="2905636"/>
            <a:ext cx="6552728" cy="914400"/>
            <a:chOff x="1151472" y="3187501"/>
            <a:chExt cx="6552728" cy="914400"/>
          </a:xfrm>
        </p:grpSpPr>
        <p:sp>
          <p:nvSpPr>
            <p:cNvPr id="36" name="Pentagon 16">
              <a:extLst>
                <a:ext uri="{FF2B5EF4-FFF2-40B4-BE49-F238E27FC236}">
                  <a16:creationId xmlns:a16="http://schemas.microsoft.com/office/drawing/2014/main" id="{33CFC4FF-26E0-DD0A-5F99-D386FFCD4A79}"/>
                </a:ext>
              </a:extLst>
            </p:cNvPr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7" name="Pentagon 17">
              <a:extLst>
                <a:ext uri="{FF2B5EF4-FFF2-40B4-BE49-F238E27FC236}">
                  <a16:creationId xmlns:a16="http://schemas.microsoft.com/office/drawing/2014/main" id="{797CAC3B-356C-5029-84BF-856F7F9F99B9}"/>
                </a:ext>
              </a:extLst>
            </p:cNvPr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8" name="Diamond 18">
              <a:extLst>
                <a:ext uri="{FF2B5EF4-FFF2-40B4-BE49-F238E27FC236}">
                  <a16:creationId xmlns:a16="http://schemas.microsoft.com/office/drawing/2014/main" id="{3D7190C2-9C49-3C5D-5917-8F8ACFCAF970}"/>
                </a:ext>
              </a:extLst>
            </p:cNvPr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9" name="Group 19">
            <a:extLst>
              <a:ext uri="{FF2B5EF4-FFF2-40B4-BE49-F238E27FC236}">
                <a16:creationId xmlns:a16="http://schemas.microsoft.com/office/drawing/2014/main" id="{52CF69C5-96AE-749D-886A-A4F38549A292}"/>
              </a:ext>
            </a:extLst>
          </p:cNvPr>
          <p:cNvGrpSpPr/>
          <p:nvPr/>
        </p:nvGrpSpPr>
        <p:grpSpPr>
          <a:xfrm>
            <a:off x="2258726" y="3828663"/>
            <a:ext cx="6552728" cy="914400"/>
            <a:chOff x="1151472" y="3187501"/>
            <a:chExt cx="6552728" cy="914400"/>
          </a:xfrm>
        </p:grpSpPr>
        <p:sp>
          <p:nvSpPr>
            <p:cNvPr id="40" name="Pentagon 20">
              <a:extLst>
                <a:ext uri="{FF2B5EF4-FFF2-40B4-BE49-F238E27FC236}">
                  <a16:creationId xmlns:a16="http://schemas.microsoft.com/office/drawing/2014/main" id="{A9E87487-02A8-2DA8-3381-71EE75FB856C}"/>
                </a:ext>
              </a:extLst>
            </p:cNvPr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1" name="Pentagon 21">
              <a:extLst>
                <a:ext uri="{FF2B5EF4-FFF2-40B4-BE49-F238E27FC236}">
                  <a16:creationId xmlns:a16="http://schemas.microsoft.com/office/drawing/2014/main" id="{D5A0213C-C41E-13B9-F7B5-E7BA63C9A194}"/>
                </a:ext>
              </a:extLst>
            </p:cNvPr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Diamond 22">
              <a:extLst>
                <a:ext uri="{FF2B5EF4-FFF2-40B4-BE49-F238E27FC236}">
                  <a16:creationId xmlns:a16="http://schemas.microsoft.com/office/drawing/2014/main" id="{37974A22-9BFA-427F-2BA6-DF60EFC6EA2A}"/>
                </a:ext>
              </a:extLst>
            </p:cNvPr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43" name="직사각형 39">
            <a:extLst>
              <a:ext uri="{FF2B5EF4-FFF2-40B4-BE49-F238E27FC236}">
                <a16:creationId xmlns:a16="http://schemas.microsoft.com/office/drawing/2014/main" id="{E7A80F1E-D13E-8C69-C86A-BAB8C88A3662}"/>
              </a:ext>
            </a:extLst>
          </p:cNvPr>
          <p:cNvSpPr/>
          <p:nvPr/>
        </p:nvSpPr>
        <p:spPr>
          <a:xfrm>
            <a:off x="2509438" y="2187449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2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042A88E5-4517-E3B0-2264-35B37BDD0585}"/>
              </a:ext>
            </a:extLst>
          </p:cNvPr>
          <p:cNvSpPr txBox="1"/>
          <p:nvPr/>
        </p:nvSpPr>
        <p:spPr bwMode="auto">
          <a:xfrm>
            <a:off x="3275856" y="2196190"/>
            <a:ext cx="4752528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Method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7" name="직사각형 39">
            <a:extLst>
              <a:ext uri="{FF2B5EF4-FFF2-40B4-BE49-F238E27FC236}">
                <a16:creationId xmlns:a16="http://schemas.microsoft.com/office/drawing/2014/main" id="{B2A3CA27-EA3C-D286-E933-3D2672BAF3C0}"/>
              </a:ext>
            </a:extLst>
          </p:cNvPr>
          <p:cNvSpPr/>
          <p:nvPr/>
        </p:nvSpPr>
        <p:spPr>
          <a:xfrm>
            <a:off x="2509438" y="3111971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3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49" name="TextBox 10">
            <a:extLst>
              <a:ext uri="{FF2B5EF4-FFF2-40B4-BE49-F238E27FC236}">
                <a16:creationId xmlns:a16="http://schemas.microsoft.com/office/drawing/2014/main" id="{9F3FEC2E-7450-2F40-2B51-25A3D05F8A9E}"/>
              </a:ext>
            </a:extLst>
          </p:cNvPr>
          <p:cNvSpPr txBox="1"/>
          <p:nvPr/>
        </p:nvSpPr>
        <p:spPr bwMode="auto">
          <a:xfrm>
            <a:off x="3275856" y="3135491"/>
            <a:ext cx="4752528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Experiment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직사각형 39">
            <a:extLst>
              <a:ext uri="{FF2B5EF4-FFF2-40B4-BE49-F238E27FC236}">
                <a16:creationId xmlns:a16="http://schemas.microsoft.com/office/drawing/2014/main" id="{24945693-0791-B93C-4D3E-5AE7D61B8982}"/>
              </a:ext>
            </a:extLst>
          </p:cNvPr>
          <p:cNvSpPr/>
          <p:nvPr/>
        </p:nvSpPr>
        <p:spPr>
          <a:xfrm>
            <a:off x="2509438" y="4036493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4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53" name="TextBox 10">
            <a:extLst>
              <a:ext uri="{FF2B5EF4-FFF2-40B4-BE49-F238E27FC236}">
                <a16:creationId xmlns:a16="http://schemas.microsoft.com/office/drawing/2014/main" id="{3799AEA1-F38C-E20B-2D45-50C2BBBDC54B}"/>
              </a:ext>
            </a:extLst>
          </p:cNvPr>
          <p:cNvSpPr txBox="1"/>
          <p:nvPr/>
        </p:nvSpPr>
        <p:spPr bwMode="auto">
          <a:xfrm>
            <a:off x="3275856" y="4055030"/>
            <a:ext cx="4752528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Introduction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C6961A-EE0A-D1AD-4B15-5EBDC4258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54" y="987574"/>
            <a:ext cx="7625891" cy="341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730F-E468-BBFA-FF6E-5BA46332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CBE313-A156-AC97-3262-530092441D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Introduction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94AF4-7E21-D98D-8D00-16719BEC0E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FAC8E5-7166-5819-770F-035A5C47F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54" y="987574"/>
            <a:ext cx="7625891" cy="341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784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C86F-F8F9-A341-97D0-D4C41D5F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6CE857-07FA-C179-6418-13DD1F63E3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Research Method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B1A7866E-B1E3-7DDB-0E97-543A2B7002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99" b="-11032"/>
          <a:stretch>
            <a:fillRect/>
          </a:stretch>
        </p:blipFill>
        <p:spPr>
          <a:xfrm>
            <a:off x="539552" y="1203598"/>
            <a:ext cx="3383360" cy="38884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4C147EB-F900-26D0-8AB0-67DEF9B75841}"/>
              </a:ext>
            </a:extLst>
          </p:cNvPr>
          <p:cNvSpPr/>
          <p:nvPr/>
        </p:nvSpPr>
        <p:spPr>
          <a:xfrm>
            <a:off x="4402415" y="1203598"/>
            <a:ext cx="4536504" cy="15121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기본 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KoGPT3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모델에서</a:t>
            </a:r>
            <a:endParaRPr lang="en-US" altLang="ko-KR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추론 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GPU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메모리 사용량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20GB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파인튜닝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GPU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메모리 사용량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60GB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067891-EB64-201A-1781-2BEF8730E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53111" y="2935701"/>
            <a:ext cx="2102136" cy="210213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0B4ABBE-6CB0-BCD9-0170-553F8DF561F6}"/>
              </a:ext>
            </a:extLst>
          </p:cNvPr>
          <p:cNvSpPr/>
          <p:nvPr/>
        </p:nvSpPr>
        <p:spPr>
          <a:xfrm>
            <a:off x="4716016" y="3651870"/>
            <a:ext cx="223224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err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파인튜닝</a:t>
            </a: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중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..</a:t>
            </a:r>
            <a:endParaRPr lang="ko-KR" altLang="en-US" sz="2400" b="1"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3E7BDC-5DA1-4BD0-BF8A-C3B016D87843}"/>
              </a:ext>
            </a:extLst>
          </p:cNvPr>
          <p:cNvSpPr/>
          <p:nvPr/>
        </p:nvSpPr>
        <p:spPr>
          <a:xfrm>
            <a:off x="4441225" y="3536457"/>
            <a:ext cx="2473841" cy="5760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CUDA Out Of Memory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2709A11-40E9-0967-2EA9-00C96E1204AE}"/>
              </a:ext>
            </a:extLst>
          </p:cNvPr>
          <p:cNvGrpSpPr/>
          <p:nvPr/>
        </p:nvGrpSpPr>
        <p:grpSpPr>
          <a:xfrm>
            <a:off x="6056962" y="1666354"/>
            <a:ext cx="1899414" cy="1272608"/>
            <a:chOff x="1933231" y="516822"/>
            <a:chExt cx="1899414" cy="1272608"/>
          </a:xfrm>
        </p:grpSpPr>
        <p:sp>
          <p:nvSpPr>
            <p:cNvPr id="10" name="생각 풍선: 구름 모양 9">
              <a:extLst>
                <a:ext uri="{FF2B5EF4-FFF2-40B4-BE49-F238E27FC236}">
                  <a16:creationId xmlns:a16="http://schemas.microsoft.com/office/drawing/2014/main" id="{5AAF1799-27B4-D496-C8C4-A1C60DC7FC67}"/>
                </a:ext>
              </a:extLst>
            </p:cNvPr>
            <p:cNvSpPr/>
            <p:nvPr/>
          </p:nvSpPr>
          <p:spPr>
            <a:xfrm>
              <a:off x="1933231" y="516822"/>
              <a:ext cx="1899414" cy="1272608"/>
            </a:xfrm>
            <a:prstGeom prst="cloudCallout">
              <a:avLst/>
            </a:prstGeom>
            <a:solidFill>
              <a:srgbClr val="9AD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생각 풍선: 구름 모양 10">
              <a:extLst>
                <a:ext uri="{FF2B5EF4-FFF2-40B4-BE49-F238E27FC236}">
                  <a16:creationId xmlns:a16="http://schemas.microsoft.com/office/drawing/2014/main" id="{AA0F0185-6611-AE66-428C-FFB565CC5315}"/>
                </a:ext>
              </a:extLst>
            </p:cNvPr>
            <p:cNvSpPr/>
            <p:nvPr/>
          </p:nvSpPr>
          <p:spPr>
            <a:xfrm>
              <a:off x="1983817" y="556378"/>
              <a:ext cx="1781158" cy="1180135"/>
            </a:xfrm>
            <a:prstGeom prst="cloudCallou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생각 풍선: 구름 모양 11">
              <a:extLst>
                <a:ext uri="{FF2B5EF4-FFF2-40B4-BE49-F238E27FC236}">
                  <a16:creationId xmlns:a16="http://schemas.microsoft.com/office/drawing/2014/main" id="{BAC56A15-2508-591C-7133-C12606E39A1D}"/>
                </a:ext>
              </a:extLst>
            </p:cNvPr>
            <p:cNvSpPr/>
            <p:nvPr/>
          </p:nvSpPr>
          <p:spPr>
            <a:xfrm>
              <a:off x="2021925" y="576247"/>
              <a:ext cx="1692074" cy="1133690"/>
            </a:xfrm>
            <a:prstGeom prst="cloudCallout">
              <a:avLst/>
            </a:prstGeom>
            <a:solidFill>
              <a:srgbClr val="9AD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40185E-1550-1181-0B3B-5533CA064D8C}"/>
                </a:ext>
              </a:extLst>
            </p:cNvPr>
            <p:cNvSpPr txBox="1"/>
            <p:nvPr/>
          </p:nvSpPr>
          <p:spPr>
            <a:xfrm>
              <a:off x="2068452" y="753360"/>
              <a:ext cx="168365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메모리가 부족한 탓일까</a:t>
              </a:r>
              <a:r>
                <a: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? </a:t>
              </a:r>
            </a:p>
            <a:p>
              <a:pPr algn="ctr"/>
              <a:r>
                <a:rPr lang="ko-KR" altLang="en-US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ㅜ</a:t>
              </a:r>
              <a:r>
                <a: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r>
                <a:rPr lang="ko-KR" altLang="en-US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ㅜ</a:t>
              </a:r>
              <a:endPara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1471316-B674-CF9B-82CA-95F22A26B2A6}"/>
              </a:ext>
            </a:extLst>
          </p:cNvPr>
          <p:cNvSpPr txBox="1"/>
          <p:nvPr/>
        </p:nvSpPr>
        <p:spPr>
          <a:xfrm>
            <a:off x="4505775" y="4752619"/>
            <a:ext cx="219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A4500 20GB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장</a:t>
            </a:r>
            <a:endParaRPr lang="en-US" altLang="ko-KR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65DBDB-7A85-16BB-948C-C1CAB4F164EB}"/>
              </a:ext>
            </a:extLst>
          </p:cNvPr>
          <p:cNvSpPr/>
          <p:nvPr/>
        </p:nvSpPr>
        <p:spPr>
          <a:xfrm>
            <a:off x="1259632" y="2211710"/>
            <a:ext cx="481204" cy="674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47E420-8516-580E-5667-942AA0394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4696" y="2211709"/>
            <a:ext cx="603623" cy="6743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C0DD59A-D160-4F65-0613-6DBEEB9FD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4696" y="2211708"/>
            <a:ext cx="603623" cy="67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65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-0.00556 L -0.00226 -0.00556 C 0.00486 -0.00617 0.01198 -0.00802 0.01927 -0.00741 C 0.06493 -0.00432 0.06423 -0.00031 0.10694 0.01111 C 0.11892 0.01451 0.13107 0.01605 0.14288 0.02006 C 0.15416 0.02377 0.19618 0.04599 0.2026 0.04938 C 0.21111 0.05432 0.21996 0.05833 0.22795 0.06512 C 0.24253 0.07778 0.25486 0.09815 0.26996 0.10741 C 0.27795 0.11235 0.28611 0.11605 0.29375 0.12222 C 0.30503 0.13148 0.3151 0.14599 0.32691 0.1537 C 0.33663 0.15988 0.3559 0.17191 0.36493 0.18025 C 0.37691 0.19105 0.38819 0.2037 0.39982 0.21543 C 0.40139 0.21698 0.40312 0.21852 0.40468 0.22037 C 0.40677 0.22253 0.40868 0.22531 0.41076 0.22716 C 0.41771 0.23395 0.42587 0.23951 0.43229 0.24784 C 0.43489 0.25123 0.4368 0.25586 0.43958 0.25864 C 0.44305 0.26235 0.45121 0.26667 0.45121 0.26667 " pathEditMode="relative" ptsTypes="AAAAAAAAAAAAAAA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8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D2CC2-9985-B042-118C-C58C89AAB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F5244B26-041A-C5B7-6059-01413B65AB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99" b="-11032"/>
          <a:stretch>
            <a:fillRect/>
          </a:stretch>
        </p:blipFill>
        <p:spPr>
          <a:xfrm>
            <a:off x="539552" y="1203598"/>
            <a:ext cx="3383360" cy="388843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4445208-CFC8-C253-E1A6-1992125C8A07}"/>
              </a:ext>
            </a:extLst>
          </p:cNvPr>
          <p:cNvGrpSpPr/>
          <p:nvPr/>
        </p:nvGrpSpPr>
        <p:grpSpPr>
          <a:xfrm>
            <a:off x="4402415" y="2931790"/>
            <a:ext cx="4536504" cy="1791789"/>
            <a:chOff x="4402415" y="2931790"/>
            <a:chExt cx="4536504" cy="179178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2DCEA67-E113-1DEB-E257-21953AEB73A5}"/>
                </a:ext>
              </a:extLst>
            </p:cNvPr>
            <p:cNvSpPr/>
            <p:nvPr/>
          </p:nvSpPr>
          <p:spPr>
            <a:xfrm>
              <a:off x="4402415" y="2931790"/>
              <a:ext cx="4536504" cy="17917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F4F543-6EB0-5436-B460-04E227277AB6}"/>
                </a:ext>
              </a:extLst>
            </p:cNvPr>
            <p:cNvSpPr txBox="1"/>
            <p:nvPr/>
          </p:nvSpPr>
          <p:spPr>
            <a:xfrm>
              <a:off x="4504048" y="3227520"/>
              <a:ext cx="433323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연구실 컴퓨터 스펙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(A4500 20GB 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두 장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dirty="0" err="1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으로는</a:t>
              </a:r>
              <a:r>
                <a:rPr lang="ko-KR" altLang="en-US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ko-KR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파인튜닝하기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어려웠음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DeepSpeed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와 </a:t>
              </a:r>
              <a:r>
                <a:rPr kumimoji="0" lang="en-US" altLang="ko-KR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QLoRA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를 써서 해결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!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14C3FDD-ED73-2571-910E-32529093D6C9}"/>
              </a:ext>
            </a:extLst>
          </p:cNvPr>
          <p:cNvGrpSpPr/>
          <p:nvPr/>
        </p:nvGrpSpPr>
        <p:grpSpPr>
          <a:xfrm>
            <a:off x="4402415" y="1215826"/>
            <a:ext cx="4536504" cy="1512168"/>
            <a:chOff x="4402415" y="1215826"/>
            <a:chExt cx="4536504" cy="151216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888A009-6F3C-91B4-9236-E2407F81FF29}"/>
                </a:ext>
              </a:extLst>
            </p:cNvPr>
            <p:cNvSpPr/>
            <p:nvPr/>
          </p:nvSpPr>
          <p:spPr>
            <a:xfrm>
              <a:off x="4402415" y="1215826"/>
              <a:ext cx="4536504" cy="15121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605FB4-9AFC-3F65-8601-E53778F5D80D}"/>
                </a:ext>
              </a:extLst>
            </p:cNvPr>
            <p:cNvSpPr txBox="1"/>
            <p:nvPr/>
          </p:nvSpPr>
          <p:spPr>
            <a:xfrm>
              <a:off x="4445539" y="1233246"/>
              <a:ext cx="4450256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기본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KoGPT3 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모델에서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추론 시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GPU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메모리 사용량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약 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20GB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파인튜닝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시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GPU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메모리 사용량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약 </a:t>
              </a: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60GB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537562-E10D-3554-4B0F-37432BD1E7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 Architecture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254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AF484-E968-C663-D104-F71DA0132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0E05D570-BC43-306D-BF02-46FC0D620A92}"/>
              </a:ext>
            </a:extLst>
          </p:cNvPr>
          <p:cNvGrpSpPr/>
          <p:nvPr/>
        </p:nvGrpSpPr>
        <p:grpSpPr>
          <a:xfrm>
            <a:off x="467544" y="1419622"/>
            <a:ext cx="8352928" cy="3384376"/>
            <a:chOff x="1084673" y="3134634"/>
            <a:chExt cx="7854246" cy="158894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546873F-2CDF-3321-255E-93753A2AEAB0}"/>
                </a:ext>
              </a:extLst>
            </p:cNvPr>
            <p:cNvSpPr/>
            <p:nvPr/>
          </p:nvSpPr>
          <p:spPr>
            <a:xfrm>
              <a:off x="4402415" y="3134634"/>
              <a:ext cx="4536504" cy="15889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63D348-A6CA-E381-E437-94F6A9E81C3E}"/>
                </a:ext>
              </a:extLst>
            </p:cNvPr>
            <p:cNvSpPr txBox="1"/>
            <p:nvPr/>
          </p:nvSpPr>
          <p:spPr>
            <a:xfrm>
              <a:off x="1084673" y="3540322"/>
              <a:ext cx="2401327" cy="433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Microsoft</a:t>
              </a:r>
              <a:r>
                <a:rPr lang="ko-KR" altLang="en-US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에서 개발한 딥러닝 최적화 라이브러리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2CAAAE-BA35-0A3A-1101-5F2BE7CFB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DeepSpeed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D244C1-B49A-993F-F489-5E6C83756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9622"/>
            <a:ext cx="238125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F67A2D-9FDB-45D3-AA99-E26DA05938B6}"/>
              </a:ext>
            </a:extLst>
          </p:cNvPr>
          <p:cNvSpPr txBox="1"/>
          <p:nvPr/>
        </p:nvSpPr>
        <p:spPr>
          <a:xfrm>
            <a:off x="4156996" y="1557538"/>
            <a:ext cx="45914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ko-KR" sz="20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ZeRO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Optimization</a:t>
            </a:r>
          </a:p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r>
              <a:rPr lang="ko-KR" altLang="en-US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Offloading</a:t>
            </a:r>
          </a:p>
          <a:p>
            <a:pPr marL="285750" marR="0" lvl="0" indent="-28575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ko-KR" sz="2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ko-KR" sz="2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Gradient Checkpointing</a:t>
            </a:r>
          </a:p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2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lvl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2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marR="0" lvl="0" indent="-28575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Mixed Precision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5C1D6-650A-BE0D-361D-A35574FD9A54}"/>
              </a:ext>
            </a:extLst>
          </p:cNvPr>
          <p:cNvSpPr txBox="1"/>
          <p:nvPr/>
        </p:nvSpPr>
        <p:spPr>
          <a:xfrm>
            <a:off x="5796136" y="105028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주요 기술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7732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4B18-D2A0-F4A4-E3F2-4661AF80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EC1D3-19C4-A34D-01AD-1845B35B5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DeepSpeed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AC852-FBDF-CD3A-E920-DA834F7F231E}"/>
              </a:ext>
            </a:extLst>
          </p:cNvPr>
          <p:cNvSpPr txBox="1"/>
          <p:nvPr/>
        </p:nvSpPr>
        <p:spPr>
          <a:xfrm>
            <a:off x="340572" y="1557538"/>
            <a:ext cx="459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ko-KR" sz="20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ZeRO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2F51D-167A-ACB5-95DD-245271FD0179}"/>
              </a:ext>
            </a:extLst>
          </p:cNvPr>
          <p:cNvSpPr txBox="1"/>
          <p:nvPr/>
        </p:nvSpPr>
        <p:spPr>
          <a:xfrm>
            <a:off x="1979712" y="105028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주요 기술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702FC0-E8D4-D2FC-88D1-279202D9BB94}"/>
              </a:ext>
            </a:extLst>
          </p:cNvPr>
          <p:cNvSpPr/>
          <p:nvPr/>
        </p:nvSpPr>
        <p:spPr>
          <a:xfrm>
            <a:off x="179512" y="1419621"/>
            <a:ext cx="4824536" cy="3384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FF9BAC8-D310-EF92-4BAB-5884E5C21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153124"/>
            <a:ext cx="4519460" cy="23628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278A1E-F922-F76C-65E3-C00FD7FDB517}"/>
              </a:ext>
            </a:extLst>
          </p:cNvPr>
          <p:cNvSpPr txBox="1"/>
          <p:nvPr/>
        </p:nvSpPr>
        <p:spPr>
          <a:xfrm>
            <a:off x="5174802" y="1419620"/>
            <a:ext cx="38602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Stage 1 : 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상태를 분산 저장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Stage 2 : Stage1 + 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그라디언트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분산 저장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Stage 3 : Stage1 + Stage2 + 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 가중치 분산 저장</a:t>
            </a:r>
          </a:p>
        </p:txBody>
      </p:sp>
    </p:spTree>
    <p:extLst>
      <p:ext uri="{BB962C8B-B14F-4D97-AF65-F5344CB8AC3E}">
        <p14:creationId xmlns:p14="http://schemas.microsoft.com/office/powerpoint/2010/main" val="3489373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F42D-26C4-0995-B3FB-7909E9DF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19D282-217C-71C8-9BF6-91DF696926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DeepSpeed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AE59E-7648-439D-EF11-7790F0D9A605}"/>
              </a:ext>
            </a:extLst>
          </p:cNvPr>
          <p:cNvSpPr txBox="1"/>
          <p:nvPr/>
        </p:nvSpPr>
        <p:spPr>
          <a:xfrm>
            <a:off x="340572" y="1557538"/>
            <a:ext cx="459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r>
              <a:rPr lang="ko-KR" altLang="en-US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Offloading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03165-C7C5-E5DB-65EA-A93512DC94F5}"/>
              </a:ext>
            </a:extLst>
          </p:cNvPr>
          <p:cNvSpPr txBox="1"/>
          <p:nvPr/>
        </p:nvSpPr>
        <p:spPr>
          <a:xfrm>
            <a:off x="1979712" y="105028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주요 기술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E57D60-D2DA-E33F-30B7-F6D3FB330361}"/>
              </a:ext>
            </a:extLst>
          </p:cNvPr>
          <p:cNvSpPr/>
          <p:nvPr/>
        </p:nvSpPr>
        <p:spPr>
          <a:xfrm>
            <a:off x="179512" y="1419621"/>
            <a:ext cx="4824536" cy="3384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6" name="그림 2">
            <a:extLst>
              <a:ext uri="{FF2B5EF4-FFF2-40B4-BE49-F238E27FC236}">
                <a16:creationId xmlns:a16="http://schemas.microsoft.com/office/drawing/2014/main" id="{A6FCF74A-14EB-469E-496B-B31BC4FF0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0162" y="2839778"/>
            <a:ext cx="2102136" cy="2102136"/>
          </a:xfrm>
          <a:prstGeom prst="rect">
            <a:avLst/>
          </a:prstGeom>
        </p:spPr>
      </p:pic>
      <p:sp>
        <p:nvSpPr>
          <p:cNvPr id="31" name="별: 꼭짓점 6개 30">
            <a:extLst>
              <a:ext uri="{FF2B5EF4-FFF2-40B4-BE49-F238E27FC236}">
                <a16:creationId xmlns:a16="http://schemas.microsoft.com/office/drawing/2014/main" id="{23297FAF-222B-29F3-79A2-9AC84ECD5778}"/>
              </a:ext>
            </a:extLst>
          </p:cNvPr>
          <p:cNvSpPr/>
          <p:nvPr/>
        </p:nvSpPr>
        <p:spPr>
          <a:xfrm>
            <a:off x="2932566" y="2111841"/>
            <a:ext cx="1989616" cy="2088232"/>
          </a:xfrm>
          <a:prstGeom prst="star6">
            <a:avLst>
              <a:gd name="adj" fmla="val 24191"/>
              <a:gd name="hf" fmla="val 115470"/>
            </a:avLst>
          </a:prstGeom>
          <a:noFill/>
          <a:ln w="31750">
            <a:solidFill>
              <a:srgbClr val="9AD3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BC29CA-E9AC-3008-96B2-55C109A987FC}"/>
              </a:ext>
            </a:extLst>
          </p:cNvPr>
          <p:cNvSpPr txBox="1"/>
          <p:nvPr/>
        </p:nvSpPr>
        <p:spPr>
          <a:xfrm>
            <a:off x="3174604" y="2735860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9AD3E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GPU </a:t>
            </a:r>
            <a:r>
              <a:rPr lang="ko-KR" altLang="en-US" b="1" dirty="0">
                <a:solidFill>
                  <a:srgbClr val="9AD3E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</a:t>
            </a:r>
            <a:r>
              <a:rPr lang="en-US" altLang="ko-KR" b="1" dirty="0">
                <a:solidFill>
                  <a:srgbClr val="9AD3E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pPr algn="ctr"/>
            <a:r>
              <a:rPr lang="ko-KR" altLang="en-US" b="1" dirty="0">
                <a:solidFill>
                  <a:srgbClr val="9AD3E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초과 감지</a:t>
            </a:r>
          </a:p>
        </p:txBody>
      </p:sp>
      <p:pic>
        <p:nvPicPr>
          <p:cNvPr id="3076" name="Picture 4" descr="Cpu 사진 | Unsplash에서 무료 이미지 다운로드">
            <a:extLst>
              <a:ext uri="{FF2B5EF4-FFF2-40B4-BE49-F238E27FC236}">
                <a16:creationId xmlns:a16="http://schemas.microsoft.com/office/drawing/2014/main" id="{67AE7FCF-92F4-DF7C-C973-06659C1B9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842" y="1234954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8845A8A6-3466-64B0-DAAD-0DDC26102EC7}"/>
              </a:ext>
            </a:extLst>
          </p:cNvPr>
          <p:cNvGrpSpPr/>
          <p:nvPr/>
        </p:nvGrpSpPr>
        <p:grpSpPr>
          <a:xfrm>
            <a:off x="5530775" y="3107779"/>
            <a:ext cx="3361705" cy="2200275"/>
            <a:chOff x="5530775" y="3107779"/>
            <a:chExt cx="3361705" cy="2200275"/>
          </a:xfrm>
        </p:grpSpPr>
        <p:pic>
          <p:nvPicPr>
            <p:cNvPr id="34" name="그림 33" descr="전자제품, 컴퓨터 구성 요소, 전자 부품, 전자 공학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9B36E69-CFCB-F8B1-80AF-15412CA41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0775" y="3107779"/>
              <a:ext cx="2832497" cy="1743075"/>
            </a:xfrm>
            <a:prstGeom prst="rect">
              <a:avLst/>
            </a:prstGeom>
          </p:spPr>
        </p:pic>
        <p:pic>
          <p:nvPicPr>
            <p:cNvPr id="35" name="그림 34" descr="전자제품, 컴퓨터 구성 요소, 전자 부품, 전자 공학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176D08C-2525-912A-F275-14BCAF85A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5183" y="3260179"/>
              <a:ext cx="2832497" cy="1743075"/>
            </a:xfrm>
            <a:prstGeom prst="rect">
              <a:avLst/>
            </a:prstGeom>
          </p:spPr>
        </p:pic>
        <p:pic>
          <p:nvPicPr>
            <p:cNvPr id="36" name="그림 35" descr="전자제품, 컴퓨터 구성 요소, 전자 부품, 전자 공학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86BB7D4-6150-FE86-07E6-77FF75916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5575" y="3412579"/>
              <a:ext cx="2832497" cy="1743075"/>
            </a:xfrm>
            <a:prstGeom prst="rect">
              <a:avLst/>
            </a:prstGeom>
          </p:spPr>
        </p:pic>
        <p:pic>
          <p:nvPicPr>
            <p:cNvPr id="37" name="그림 36" descr="전자제품, 컴퓨터 구성 요소, 전자 부품, 전자 공학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7174592-76D2-CA10-FCB5-F8F3F2F14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9983" y="3564979"/>
              <a:ext cx="2832497" cy="1743075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6DA0E09-251D-675C-FD45-E1A11365EBB1}"/>
              </a:ext>
            </a:extLst>
          </p:cNvPr>
          <p:cNvGrpSpPr/>
          <p:nvPr/>
        </p:nvGrpSpPr>
        <p:grpSpPr>
          <a:xfrm>
            <a:off x="3039784" y="3378875"/>
            <a:ext cx="1672952" cy="760437"/>
            <a:chOff x="2843808" y="930408"/>
            <a:chExt cx="1672952" cy="760437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8DAC046-A0E2-B1F4-2EC6-15261097A25A}"/>
                </a:ext>
              </a:extLst>
            </p:cNvPr>
            <p:cNvSpPr/>
            <p:nvPr/>
          </p:nvSpPr>
          <p:spPr>
            <a:xfrm>
              <a:off x="2843808" y="930408"/>
              <a:ext cx="1368152" cy="455637"/>
            </a:xfrm>
            <a:prstGeom prst="rect">
              <a:avLst/>
            </a:prstGeom>
            <a:solidFill>
              <a:srgbClr val="9AD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옵티마이저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DAA0368-D222-D9F0-0E15-B385D92F9457}"/>
                </a:ext>
              </a:extLst>
            </p:cNvPr>
            <p:cNvSpPr/>
            <p:nvPr/>
          </p:nvSpPr>
          <p:spPr>
            <a:xfrm>
              <a:off x="2996208" y="1082808"/>
              <a:ext cx="1368152" cy="455637"/>
            </a:xfrm>
            <a:prstGeom prst="rect">
              <a:avLst/>
            </a:prstGeom>
            <a:solidFill>
              <a:srgbClr val="9AD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옵티마이저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5965B95-2962-6B94-D44A-BEC746446FD2}"/>
                </a:ext>
              </a:extLst>
            </p:cNvPr>
            <p:cNvSpPr/>
            <p:nvPr/>
          </p:nvSpPr>
          <p:spPr>
            <a:xfrm>
              <a:off x="3148608" y="1235208"/>
              <a:ext cx="1368152" cy="455637"/>
            </a:xfrm>
            <a:prstGeom prst="rect">
              <a:avLst/>
            </a:prstGeom>
            <a:solidFill>
              <a:srgbClr val="9AD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옵티마이저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7546262-4A38-F11C-F516-869D0492D059}"/>
              </a:ext>
            </a:extLst>
          </p:cNvPr>
          <p:cNvGrpSpPr/>
          <p:nvPr/>
        </p:nvGrpSpPr>
        <p:grpSpPr>
          <a:xfrm>
            <a:off x="3018078" y="3361380"/>
            <a:ext cx="1672952" cy="760437"/>
            <a:chOff x="2843808" y="930408"/>
            <a:chExt cx="1672952" cy="760437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3341B37-4E12-4BF3-4F6C-8690567B85E1}"/>
                </a:ext>
              </a:extLst>
            </p:cNvPr>
            <p:cNvSpPr/>
            <p:nvPr/>
          </p:nvSpPr>
          <p:spPr>
            <a:xfrm>
              <a:off x="2843808" y="930408"/>
              <a:ext cx="1368152" cy="455637"/>
            </a:xfrm>
            <a:prstGeom prst="rect">
              <a:avLst/>
            </a:prstGeom>
            <a:solidFill>
              <a:srgbClr val="9AD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옵티마이저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00A3FDF-DBA2-EE1E-33EC-5977B32F3617}"/>
                </a:ext>
              </a:extLst>
            </p:cNvPr>
            <p:cNvSpPr/>
            <p:nvPr/>
          </p:nvSpPr>
          <p:spPr>
            <a:xfrm>
              <a:off x="2996208" y="1082808"/>
              <a:ext cx="1368152" cy="455637"/>
            </a:xfrm>
            <a:prstGeom prst="rect">
              <a:avLst/>
            </a:prstGeom>
            <a:solidFill>
              <a:srgbClr val="9AD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옵티마이저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1637F35-30EC-32D5-16DE-C2401ACFE1E3}"/>
                </a:ext>
              </a:extLst>
            </p:cNvPr>
            <p:cNvSpPr/>
            <p:nvPr/>
          </p:nvSpPr>
          <p:spPr>
            <a:xfrm>
              <a:off x="3148608" y="1235208"/>
              <a:ext cx="1368152" cy="455637"/>
            </a:xfrm>
            <a:prstGeom prst="rect">
              <a:avLst/>
            </a:prstGeom>
            <a:solidFill>
              <a:srgbClr val="9AD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옵티마이저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551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49 0.00617 L 0.01649 0.00617 C 0.04184 -0.00957 0.06736 -0.02407 0.09253 -0.04043 C 0.10225 -0.04691 0.11215 -0.05247 0.1217 -0.05957 C 0.13698 -0.07099 0.15156 -0.08518 0.16701 -0.09568 C 0.18403 -0.10741 0.20173 -0.11667 0.21823 -0.13056 C 0.22239 -0.13426 0.22639 -0.13858 0.23073 -0.14105 C 0.23663 -0.14475 0.24548 -0.14475 0.25156 -0.14537 C 0.26788 -0.15062 0.24878 -0.14506 0.28194 -0.14846 C 0.2842 -0.14876 0.28628 -0.15 0.28854 -0.15062 C 0.29097 -0.15154 0.29357 -0.15216 0.29618 -0.15278 C 0.30104 -0.15401 0.30573 -0.15494 0.31041 -0.15586 C 0.3191 -0.15772 0.3276 -0.15895 0.33611 -0.16142 C 0.34514 -0.16389 0.34114 -0.16327 0.34809 -0.16327 " pathEditMode="relative" ptsTypes="AAAAAAAAAAAAAA">
                                      <p:cBhvr>
                                        <p:cTn id="2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94 0.00586 L 0.00694 0.00586 C 0.02743 0.03209 0.05 0.06358 0.07344 0.07993 C 0.11371 0.10771 0.14601 0.10463 0.18906 0.10956 L 0.24548 0.10833 C 0.24844 0.10802 0.25104 0.10493 0.25382 0.10401 C 0.2566 0.10339 0.25937 0.10308 0.26215 0.10308 L 0.32048 0.10216 C 0.34548 0.09845 0.33819 0.10864 0.34739 0.09259 " pathEditMode="relative" ptsTypes="AAAAAAAAA">
                                      <p:cBhvr>
                                        <p:cTn id="3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A63B7-49B4-FE07-2B39-521F520C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D95114-5908-D502-DE82-D03B2101DA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DeepSpeed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75229-4D50-B7E1-C5E6-F4530A83E480}"/>
              </a:ext>
            </a:extLst>
          </p:cNvPr>
          <p:cNvSpPr txBox="1"/>
          <p:nvPr/>
        </p:nvSpPr>
        <p:spPr>
          <a:xfrm>
            <a:off x="340572" y="1557538"/>
            <a:ext cx="459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Gradient Checkpointing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03F9B-FA7F-9B10-4A9A-AB2F47BB65DE}"/>
              </a:ext>
            </a:extLst>
          </p:cNvPr>
          <p:cNvSpPr txBox="1"/>
          <p:nvPr/>
        </p:nvSpPr>
        <p:spPr>
          <a:xfrm>
            <a:off x="1979712" y="105028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주요 기술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3E8A44-6C62-83CB-0B43-56C4E5AD5DD5}"/>
              </a:ext>
            </a:extLst>
          </p:cNvPr>
          <p:cNvSpPr/>
          <p:nvPr/>
        </p:nvSpPr>
        <p:spPr>
          <a:xfrm>
            <a:off x="179512" y="1419621"/>
            <a:ext cx="4824536" cy="3384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C417C-BC1C-52B1-22EF-7AE94E47CB11}"/>
              </a:ext>
            </a:extLst>
          </p:cNvPr>
          <p:cNvSpPr txBox="1"/>
          <p:nvPr/>
        </p:nvSpPr>
        <p:spPr>
          <a:xfrm>
            <a:off x="5165108" y="1419620"/>
            <a:ext cx="38602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Forward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때 이전 연산 결과를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checkpoint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외에 모두 버리고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/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/>
            <a:r>
              <a:rPr lang="en-US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Backword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때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checkpoint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부터 다시 계산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 descr="스크린샷, 원, 라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4D8984-AE65-2439-E0BA-2048B4CD4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71" y="2211710"/>
            <a:ext cx="4629018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79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EB0A7-0883-2661-7586-E31A5712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B661C1-3695-4143-E8EC-CC802F163A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DeepSpeed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4641B-C76F-3FD3-9F91-A4655EDFE369}"/>
              </a:ext>
            </a:extLst>
          </p:cNvPr>
          <p:cNvSpPr txBox="1"/>
          <p:nvPr/>
        </p:nvSpPr>
        <p:spPr>
          <a:xfrm>
            <a:off x="340572" y="1557538"/>
            <a:ext cx="459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Mixed Precision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A7E487-1429-5DB7-849D-56A9CB45EE08}"/>
              </a:ext>
            </a:extLst>
          </p:cNvPr>
          <p:cNvSpPr txBox="1"/>
          <p:nvPr/>
        </p:nvSpPr>
        <p:spPr>
          <a:xfrm>
            <a:off x="1979712" y="105028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주요 기술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37AAD0-46E4-B2D2-031A-31088F1398EE}"/>
              </a:ext>
            </a:extLst>
          </p:cNvPr>
          <p:cNvSpPr/>
          <p:nvPr/>
        </p:nvSpPr>
        <p:spPr>
          <a:xfrm>
            <a:off x="179512" y="1419621"/>
            <a:ext cx="4824536" cy="3384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2417D1-EA6E-B456-3818-665814464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99" y="2211710"/>
            <a:ext cx="4583562" cy="215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D76F4F-8F5B-52FF-C65B-F08E15D34499}"/>
              </a:ext>
            </a:extLst>
          </p:cNvPr>
          <p:cNvSpPr txBox="1"/>
          <p:nvPr/>
        </p:nvSpPr>
        <p:spPr>
          <a:xfrm>
            <a:off x="5381131" y="2234646"/>
            <a:ext cx="3462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FP16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방식과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FP32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방식을 합쳐 놓은 방식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대부분의 계산 및 저장은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FP16</a:t>
            </a: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Loss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계산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softmax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FP32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계산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673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DBBB-3828-6854-EB1E-1CA1A22C3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079AA3-9F09-7F91-93D4-C91CB0FB64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QLoRA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4707F-0327-C431-D97F-0C6477DB5779}"/>
              </a:ext>
            </a:extLst>
          </p:cNvPr>
          <p:cNvSpPr txBox="1"/>
          <p:nvPr/>
        </p:nvSpPr>
        <p:spPr>
          <a:xfrm>
            <a:off x="4211960" y="1707653"/>
            <a:ext cx="482453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PEFT(Parameter-Efficient Fine-Tuning)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방법 중 하나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QLoRA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추가된 기법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4bit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NormalFloat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양자화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(NF4)</a:t>
            </a:r>
          </a:p>
          <a:p>
            <a:pPr marL="342900" indent="-342900">
              <a:buAutoNum type="arabicPeriod"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이중 양자화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(Double Quantization)</a:t>
            </a:r>
          </a:p>
          <a:p>
            <a:pPr marL="342900" indent="-342900">
              <a:buAutoNum type="arabicPeriod"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페이징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(Paged Optimizer)</a:t>
            </a:r>
          </a:p>
        </p:txBody>
      </p:sp>
      <p:pic>
        <p:nvPicPr>
          <p:cNvPr id="5" name="Picture 2" descr="논문 리뷰] LORA: LOW-RANK ADAPTATION OF LARGE LANGUAGE MODELS">
            <a:extLst>
              <a:ext uri="{FF2B5EF4-FFF2-40B4-BE49-F238E27FC236}">
                <a16:creationId xmlns:a16="http://schemas.microsoft.com/office/drawing/2014/main" id="{43C4B20A-51C1-BE61-972D-AFE5BEEF7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54874"/>
            <a:ext cx="3770596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880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415F-47C1-398E-EEC9-4E9C779A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846254-62DD-E76A-84DF-CF26F4A68E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QLoRA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C0779-DFDA-8A50-67F4-BF4CEB2AD27B}"/>
              </a:ext>
            </a:extLst>
          </p:cNvPr>
          <p:cNvSpPr txBox="1"/>
          <p:nvPr/>
        </p:nvSpPr>
        <p:spPr>
          <a:xfrm>
            <a:off x="4211960" y="1707653"/>
            <a:ext cx="482453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4bit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NormalFloat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양자화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(NF4)</a:t>
            </a:r>
            <a:endParaRPr lang="en-US" altLang="ko-KR" sz="20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4bit </a:t>
            </a:r>
            <a:r>
              <a:rPr lang="ko-KR" altLang="en-US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양자화는 선형적으로 범위를 나눴지만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NF4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정규분포에 맞춰 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4bit </a:t>
            </a:r>
            <a:r>
              <a:rPr kumimoji="0" lang="ko-KR" alt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양자화하는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방식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472166-F735-F533-BA78-61B665730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1" y="1360709"/>
            <a:ext cx="3882822" cy="2817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615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A100-3569-A3DB-3266-9BDC9A1F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A3D9DA-6B03-D045-178B-4AF93D7F50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QLoRA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EC8F3-9088-8319-FFCA-655FD379DC24}"/>
              </a:ext>
            </a:extLst>
          </p:cNvPr>
          <p:cNvSpPr txBox="1"/>
          <p:nvPr/>
        </p:nvSpPr>
        <p:spPr>
          <a:xfrm>
            <a:off x="4702875" y="2039867"/>
            <a:ext cx="424847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이중 양자화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(Double Quantization)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NF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양자화에 필요한 양자화 상수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(Quantization Constant)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한 번 더 </a:t>
            </a:r>
            <a:r>
              <a:rPr lang="ko-KR" altLang="en-US" sz="16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양자화하여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메모리 절약</a:t>
            </a: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3699BD-2B80-449A-B710-FEE1280FAA72}"/>
                  </a:ext>
                </a:extLst>
              </p:cNvPr>
              <p:cNvSpPr txBox="1"/>
              <p:nvPr/>
            </p:nvSpPr>
            <p:spPr>
              <a:xfrm>
                <a:off x="611560" y="2139702"/>
                <a:ext cx="3024336" cy="7619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2800" b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3699BD-2B80-449A-B710-FEE1280FA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139702"/>
                <a:ext cx="3024336" cy="7619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One stop guide for QLoRA. This article is part of my LLMs series… | by  Tayyib Ul Hassan Gondal | Medium">
            <a:extLst>
              <a:ext uri="{FF2B5EF4-FFF2-40B4-BE49-F238E27FC236}">
                <a16:creationId xmlns:a16="http://schemas.microsoft.com/office/drawing/2014/main" id="{CCFC8441-E8F6-05A9-1B4C-09CE1E071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15567"/>
            <a:ext cx="4287720" cy="217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648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3305D-EFD0-EFF8-780D-B86BAF88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3891BF-21AB-B76C-7DAF-12A06CF38C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QLoRA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04FAD-AD8F-A02C-FE01-4763B23BBBD2}"/>
              </a:ext>
            </a:extLst>
          </p:cNvPr>
          <p:cNvSpPr txBox="1"/>
          <p:nvPr/>
        </p:nvSpPr>
        <p:spPr>
          <a:xfrm>
            <a:off x="4211960" y="1779662"/>
            <a:ext cx="482453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페이징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(Paged Optimizer)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LoRA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fine-tuning 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중에는 </a:t>
            </a:r>
            <a:r>
              <a:rPr kumimoji="0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optimizer</a:t>
            </a:r>
            <a:r>
              <a:rPr kumimoji="0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가 커짐</a:t>
            </a: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쓰는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optimizer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GPU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빈도가 낮은 것은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메모리에 저장</a:t>
            </a:r>
            <a:endParaRPr kumimoji="0" lang="en-US" altLang="ko-KR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2">
            <a:extLst>
              <a:ext uri="{FF2B5EF4-FFF2-40B4-BE49-F238E27FC236}">
                <a16:creationId xmlns:a16="http://schemas.microsoft.com/office/drawing/2014/main" id="{D8DA4D35-60F0-A94E-73A1-B623EED47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8699" y="2413830"/>
            <a:ext cx="2102136" cy="2102136"/>
          </a:xfrm>
          <a:prstGeom prst="rect">
            <a:avLst/>
          </a:prstGeom>
        </p:spPr>
      </p:pic>
      <p:pic>
        <p:nvPicPr>
          <p:cNvPr id="6" name="Picture 4" descr="Cpu 사진 | Unsplash에서 무료 이미지 다운로드">
            <a:extLst>
              <a:ext uri="{FF2B5EF4-FFF2-40B4-BE49-F238E27FC236}">
                <a16:creationId xmlns:a16="http://schemas.microsoft.com/office/drawing/2014/main" id="{DCB9942A-1F50-99E3-9322-E8D55B0E6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110" y="1454316"/>
            <a:ext cx="1731340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EF2A40D-E227-D5AF-D02B-10D4EC43079F}"/>
              </a:ext>
            </a:extLst>
          </p:cNvPr>
          <p:cNvSpPr/>
          <p:nvPr/>
        </p:nvSpPr>
        <p:spPr>
          <a:xfrm>
            <a:off x="1139767" y="3404032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5ECF7-2D1E-F16B-1B89-1473F73AE782}"/>
              </a:ext>
            </a:extLst>
          </p:cNvPr>
          <p:cNvSpPr/>
          <p:nvPr/>
        </p:nvSpPr>
        <p:spPr>
          <a:xfrm>
            <a:off x="1209324" y="3464898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54D81A-0B84-246F-29FD-6939EBE59052}"/>
              </a:ext>
            </a:extLst>
          </p:cNvPr>
          <p:cNvSpPr/>
          <p:nvPr/>
        </p:nvSpPr>
        <p:spPr>
          <a:xfrm>
            <a:off x="1278882" y="3525764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E05AA9-7A54-32F2-3860-15B352F85680}"/>
              </a:ext>
            </a:extLst>
          </p:cNvPr>
          <p:cNvSpPr/>
          <p:nvPr/>
        </p:nvSpPr>
        <p:spPr>
          <a:xfrm>
            <a:off x="1348439" y="3586630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7113D2-65F5-119F-8AFD-AC8684944EF3}"/>
              </a:ext>
            </a:extLst>
          </p:cNvPr>
          <p:cNvSpPr/>
          <p:nvPr/>
        </p:nvSpPr>
        <p:spPr>
          <a:xfrm>
            <a:off x="1292167" y="3556432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2F7D9D-B17B-C4CE-2967-1700A7F91387}"/>
              </a:ext>
            </a:extLst>
          </p:cNvPr>
          <p:cNvSpPr/>
          <p:nvPr/>
        </p:nvSpPr>
        <p:spPr>
          <a:xfrm>
            <a:off x="1361724" y="3617298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6C55EFD-15D4-8126-E1B9-BC52D9BF91D9}"/>
              </a:ext>
            </a:extLst>
          </p:cNvPr>
          <p:cNvSpPr/>
          <p:nvPr/>
        </p:nvSpPr>
        <p:spPr>
          <a:xfrm>
            <a:off x="1431282" y="3678164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D7C258-67FB-6136-13EA-F8C653186185}"/>
              </a:ext>
            </a:extLst>
          </p:cNvPr>
          <p:cNvSpPr/>
          <p:nvPr/>
        </p:nvSpPr>
        <p:spPr>
          <a:xfrm>
            <a:off x="1500839" y="3739030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154D11-09FA-19AE-3899-3271A62BF063}"/>
              </a:ext>
            </a:extLst>
          </p:cNvPr>
          <p:cNvSpPr/>
          <p:nvPr/>
        </p:nvSpPr>
        <p:spPr>
          <a:xfrm>
            <a:off x="1444567" y="3708832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57D6DF-CD56-374B-B584-DC1F8A26301C}"/>
              </a:ext>
            </a:extLst>
          </p:cNvPr>
          <p:cNvSpPr/>
          <p:nvPr/>
        </p:nvSpPr>
        <p:spPr>
          <a:xfrm>
            <a:off x="1514124" y="3769698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F11ACA-9A01-495D-C793-A4428553CEF7}"/>
              </a:ext>
            </a:extLst>
          </p:cNvPr>
          <p:cNvSpPr/>
          <p:nvPr/>
        </p:nvSpPr>
        <p:spPr>
          <a:xfrm>
            <a:off x="1583682" y="3830564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38EF83-9674-737F-87F6-0D4A4FB5CE92}"/>
              </a:ext>
            </a:extLst>
          </p:cNvPr>
          <p:cNvSpPr/>
          <p:nvPr/>
        </p:nvSpPr>
        <p:spPr>
          <a:xfrm>
            <a:off x="1653239" y="3891430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2884574-1701-01E3-25F1-419657BFE378}"/>
              </a:ext>
            </a:extLst>
          </p:cNvPr>
          <p:cNvSpPr/>
          <p:nvPr/>
        </p:nvSpPr>
        <p:spPr>
          <a:xfrm>
            <a:off x="1596967" y="3861232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988E350-FDA1-B00B-AFA9-6019B31CD9BF}"/>
              </a:ext>
            </a:extLst>
          </p:cNvPr>
          <p:cNvSpPr/>
          <p:nvPr/>
        </p:nvSpPr>
        <p:spPr>
          <a:xfrm>
            <a:off x="1666524" y="3922098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9DEA2AA-F58F-DCFC-49D5-8120AB0E6F66}"/>
              </a:ext>
            </a:extLst>
          </p:cNvPr>
          <p:cNvSpPr/>
          <p:nvPr/>
        </p:nvSpPr>
        <p:spPr>
          <a:xfrm>
            <a:off x="1736082" y="3982964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E6D87E-41B1-0708-F222-8346AAEF21F2}"/>
              </a:ext>
            </a:extLst>
          </p:cNvPr>
          <p:cNvSpPr/>
          <p:nvPr/>
        </p:nvSpPr>
        <p:spPr>
          <a:xfrm>
            <a:off x="1805639" y="4043830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7D2F0D-5D30-48D4-5FC0-B779B296B238}"/>
              </a:ext>
            </a:extLst>
          </p:cNvPr>
          <p:cNvSpPr/>
          <p:nvPr/>
        </p:nvSpPr>
        <p:spPr>
          <a:xfrm>
            <a:off x="1749367" y="4013632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D6A130D-CF98-8A81-FBFC-2D271A3B18CE}"/>
              </a:ext>
            </a:extLst>
          </p:cNvPr>
          <p:cNvSpPr/>
          <p:nvPr/>
        </p:nvSpPr>
        <p:spPr>
          <a:xfrm>
            <a:off x="1818924" y="4074498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6714530-7509-0227-A969-17DB3A0F948E}"/>
              </a:ext>
            </a:extLst>
          </p:cNvPr>
          <p:cNvSpPr/>
          <p:nvPr/>
        </p:nvSpPr>
        <p:spPr>
          <a:xfrm>
            <a:off x="1888482" y="4135364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C3ABB69-C761-3D89-E38B-06EADF86FB18}"/>
              </a:ext>
            </a:extLst>
          </p:cNvPr>
          <p:cNvSpPr/>
          <p:nvPr/>
        </p:nvSpPr>
        <p:spPr>
          <a:xfrm>
            <a:off x="1958039" y="4196230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C3CC7E-50A0-0C8F-B89C-F3B521F1E3F0}"/>
              </a:ext>
            </a:extLst>
          </p:cNvPr>
          <p:cNvSpPr/>
          <p:nvPr/>
        </p:nvSpPr>
        <p:spPr>
          <a:xfrm>
            <a:off x="2719795" y="2490497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6D1A1D6-A6D9-7139-69D6-028C7A4EC311}"/>
              </a:ext>
            </a:extLst>
          </p:cNvPr>
          <p:cNvSpPr/>
          <p:nvPr/>
        </p:nvSpPr>
        <p:spPr>
          <a:xfrm>
            <a:off x="2745520" y="2550343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BDFE8CE-3823-7849-3174-CD84A60E0A22}"/>
              </a:ext>
            </a:extLst>
          </p:cNvPr>
          <p:cNvSpPr/>
          <p:nvPr/>
        </p:nvSpPr>
        <p:spPr>
          <a:xfrm>
            <a:off x="2768171" y="2557618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9877464-9347-6823-F3D8-7414141CDCD8}"/>
              </a:ext>
            </a:extLst>
          </p:cNvPr>
          <p:cNvSpPr/>
          <p:nvPr/>
        </p:nvSpPr>
        <p:spPr>
          <a:xfrm>
            <a:off x="2793896" y="2617464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C57932C-675C-4FA6-FF0D-AD0389A497D4}"/>
              </a:ext>
            </a:extLst>
          </p:cNvPr>
          <p:cNvSpPr/>
          <p:nvPr/>
        </p:nvSpPr>
        <p:spPr>
          <a:xfrm>
            <a:off x="2872195" y="2642897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8B2622-552E-613E-C0F0-C5DE62C5B65B}"/>
              </a:ext>
            </a:extLst>
          </p:cNvPr>
          <p:cNvSpPr/>
          <p:nvPr/>
        </p:nvSpPr>
        <p:spPr>
          <a:xfrm>
            <a:off x="2897920" y="2702743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70D5749-6F5D-7E8D-4804-815018B5405E}"/>
              </a:ext>
            </a:extLst>
          </p:cNvPr>
          <p:cNvSpPr/>
          <p:nvPr/>
        </p:nvSpPr>
        <p:spPr>
          <a:xfrm>
            <a:off x="2920571" y="2710018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4556FEB-9525-8A1F-C346-9ED28E1D5122}"/>
              </a:ext>
            </a:extLst>
          </p:cNvPr>
          <p:cNvSpPr/>
          <p:nvPr/>
        </p:nvSpPr>
        <p:spPr>
          <a:xfrm>
            <a:off x="2946296" y="2769864"/>
            <a:ext cx="911953" cy="233934"/>
          </a:xfrm>
          <a:prstGeom prst="rect">
            <a:avLst/>
          </a:prstGeom>
          <a:solidFill>
            <a:srgbClr val="9AD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4EC375-6874-4A73-B245-32DA821371DC}"/>
              </a:ext>
            </a:extLst>
          </p:cNvPr>
          <p:cNvSpPr/>
          <p:nvPr/>
        </p:nvSpPr>
        <p:spPr>
          <a:xfrm>
            <a:off x="179512" y="1275606"/>
            <a:ext cx="3816424" cy="3384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782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</a:t>
            </a:r>
          </a:p>
          <a:p>
            <a:pPr lvl="0"/>
            <a:r>
              <a:rPr lang="en-US" altLang="ko-KR" dirty="0"/>
              <a:t>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8DFBB"/>
      </a:accent3>
      <a:accent4>
        <a:srgbClr val="9AD3E9"/>
      </a:accent4>
      <a:accent5>
        <a:srgbClr val="576868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AD3E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4055</TotalTime>
  <Words>399</Words>
  <Application>Microsoft Office PowerPoint</Application>
  <PresentationFormat>화면 슬라이드 쇼(16:9)</PresentationFormat>
  <Paragraphs>144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맑은 고딕</vt:lpstr>
      <vt:lpstr>Arial</vt:lpstr>
      <vt:lpstr>Cambria Math</vt:lpstr>
      <vt:lpstr>Wingdings</vt:lpstr>
      <vt:lpstr>Cover and End Slide Master</vt:lpstr>
      <vt:lpstr>Contents Slide Master</vt:lpstr>
      <vt:lpstr>Section Break Slide Master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이주형</cp:lastModifiedBy>
  <cp:revision>207</cp:revision>
  <dcterms:created xsi:type="dcterms:W3CDTF">2016-12-05T23:26:54Z</dcterms:created>
  <dcterms:modified xsi:type="dcterms:W3CDTF">2026-01-19T06:06:18Z</dcterms:modified>
</cp:coreProperties>
</file>